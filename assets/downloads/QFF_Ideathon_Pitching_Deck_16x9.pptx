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1"/>
    <p:restoredTop sz="89971"/>
  </p:normalViewPr>
  <p:slideViewPr>
    <p:cSldViewPr snapToGrid="0" snapToObjects="1">
      <p:cViewPr varScale="1">
        <p:scale>
          <a:sx n="141" d="100"/>
          <a:sy n="141" d="100"/>
        </p:scale>
        <p:origin x="1016" y="184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상정한 미래의 시점·상황과 중요한 기술·사회 변화를 설명하세요.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과학적 사실과 팀의 전망/예측을 구분해 서술하세요.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양자 기술에 대한 간략한 설명을 포함하여 제안한 사업·서비스에서 이용한 양자 기술과 그 역할을 기술하세요.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양자 기술에 대한 간략한 설명을 포함하여 제안한 사업·서비스에서 이용한 양자 기술과 그 역할을 기술하세요.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제안의 핵심을 한 문장으로 요약하고, 서비스 구조도·화면·그림 등으로 보여주세요.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Qiskit을 통한 구현 결과를 표현해주세요.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양자 기술에 대한 간략한 설명을 포함하여 제안한 사업·서비스에서 이용한 양자 기술과 그 역할을 기술하세요.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사용자의 이용 시작, 핵심 기능 사용, 결과 활용을 순서대로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필요한 데이터·기술·제도와 불확실한 점을 적으세요.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필요한 데이터·기술·제도와 불확실한 점을 적으세요.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9D20BA9E-8378-4046-A148-C25D9C04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D1C2653C-F9FA-475E-A7B8-E66589F1F8E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701AA53C-FFCE-4617-823E-4E2720BC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BA6DEC4-80A6-425C-B5FC-48808F5183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95;p2">
            <a:extLst>
              <a:ext uri="{FF2B5EF4-FFF2-40B4-BE49-F238E27FC236}">
                <a16:creationId xmlns:a16="http://schemas.microsoft.com/office/drawing/2014/main" id="{76A5592C-416A-46ED-8868-C0472B08AC1C}"/>
              </a:ext>
            </a:extLst>
          </p:cNvPr>
          <p:cNvSpPr>
            <a:spLocks noGrp="1"/>
          </p:cNvSpPr>
          <p:nvPr/>
        </p:nvSpPr>
        <p:spPr>
          <a:xfrm>
            <a:off x="6217920" y="-1280160"/>
            <a:ext cx="4388760" cy="43887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96;p2">
            <a:extLst>
              <a:ext uri="{FF2B5EF4-FFF2-40B4-BE49-F238E27FC236}">
                <a16:creationId xmlns:a16="http://schemas.microsoft.com/office/drawing/2014/main" id="{D781BEFF-C624-4D26-A0C6-3F2D6A5EBAD0}"/>
              </a:ext>
            </a:extLst>
          </p:cNvPr>
          <p:cNvSpPr>
            <a:spLocks noGrp="1"/>
          </p:cNvSpPr>
          <p:nvPr/>
        </p:nvSpPr>
        <p:spPr>
          <a:xfrm>
            <a:off x="7498080" y="182880"/>
            <a:ext cx="2377080" cy="237708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Google Shape;97;p2">
            <a:extLst>
              <a:ext uri="{FF2B5EF4-FFF2-40B4-BE49-F238E27FC236}">
                <a16:creationId xmlns:a16="http://schemas.microsoft.com/office/drawing/2014/main" id="{DC6DD99E-12B1-49F1-B40A-25F76F0DDA72}"/>
              </a:ext>
            </a:extLst>
          </p:cNvPr>
          <p:cNvSpPr>
            <a:spLocks noGrp="1"/>
          </p:cNvSpPr>
          <p:nvPr/>
        </p:nvSpPr>
        <p:spPr>
          <a:xfrm>
            <a:off x="-1097280" y="3474720"/>
            <a:ext cx="3200040" cy="320004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98;p2">
            <a:extLst>
              <a:ext uri="{FF2B5EF4-FFF2-40B4-BE49-F238E27FC236}">
                <a16:creationId xmlns:a16="http://schemas.microsoft.com/office/drawing/2014/main" id="{775BDABD-C3BF-41C4-9D2E-98C3E7EBBD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2518C7AC-ED22-4793-B403-C257FF4E72F2}"/>
              </a:ext>
            </a:extLst>
          </p:cNvPr>
          <p:cNvSpPr>
            <a:spLocks noGrp="1"/>
          </p:cNvSpPr>
          <p:nvPr/>
        </p:nvSpPr>
        <p:spPr>
          <a:xfrm>
            <a:off x="502920" y="2487240"/>
            <a:ext cx="3657240" cy="363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360" bIns="18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9FF0D5-98BB-4A2C-8DE3-F62F942CBB94}"/>
              </a:ext>
            </a:extLst>
          </p:cNvPr>
          <p:cNvSpPr>
            <a:spLocks noGrp="1"/>
          </p:cNvSpPr>
          <p:nvPr/>
        </p:nvSpPr>
        <p:spPr>
          <a:xfrm>
            <a:off x="609480" y="1666800"/>
            <a:ext cx="78102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3670" b="1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아이디어명</a:t>
            </a:r>
            <a:endParaRPr sz="36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C4DF46-29BF-49D2-8251-10E51063EB29}"/>
              </a:ext>
            </a:extLst>
          </p:cNvPr>
          <p:cNvSpPr>
            <a:spLocks noGrp="1"/>
          </p:cNvSpPr>
          <p:nvPr/>
        </p:nvSpPr>
        <p:spPr>
          <a:xfrm>
            <a:off x="609480" y="2685960"/>
            <a:ext cx="77626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100" b="0" u="none" strike="noStrike">
                <a:solidFill>
                  <a:srgbClr val="A8C8F0"/>
                </a:solidFill>
                <a:latin typeface="NanumGothic"/>
                <a:ea typeface="NanumGothic"/>
                <a:cs typeface="NanumGothic"/>
              </a:rPr>
              <a:t>서비스나 경험을 소개하는 한 문장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1EB214-B493-487E-ACFE-C6FD4906A963}"/>
              </a:ext>
            </a:extLst>
          </p:cNvPr>
          <p:cNvSpPr>
            <a:spLocks noGrp="1"/>
          </p:cNvSpPr>
          <p:nvPr/>
        </p:nvSpPr>
        <p:spPr>
          <a:xfrm>
            <a:off x="609480" y="3705120"/>
            <a:ext cx="781020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팀명  /  팀원 이름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5BB2B5-CE1B-406B-8159-B1AA9BD0F368}"/>
              </a:ext>
            </a:extLst>
          </p:cNvPr>
          <p:cNvSpPr>
            <a:spLocks noGrp="1"/>
          </p:cNvSpPr>
          <p:nvPr/>
        </p:nvSpPr>
        <p:spPr>
          <a:xfrm>
            <a:off x="609480" y="4362480"/>
            <a:ext cx="7810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A8C8F0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128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259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09;p3">
            <a:extLst>
              <a:ext uri="{FF2B5EF4-FFF2-40B4-BE49-F238E27FC236}">
                <a16:creationId xmlns:a16="http://schemas.microsoft.com/office/drawing/2014/main" id="{FE665502-BC11-4260-B7C0-44E8C26CB98F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112;p3">
            <a:extLst>
              <a:ext uri="{FF2B5EF4-FFF2-40B4-BE49-F238E27FC236}">
                <a16:creationId xmlns:a16="http://schemas.microsoft.com/office/drawing/2014/main" id="{24349E3A-27B3-4FD1-935E-9D8BB08C4C48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154471-3514-4069-8F20-ABACCDDF44C2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01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E8E10B-A074-4E03-B907-8C62A9A97095}"/>
              </a:ext>
            </a:extLst>
          </p:cNvPr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문제 상황과 전제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DEEF9C-BE75-4A3B-B91C-A20144D143FF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22A742-7218-4035-BCD4-ACB5C82BF1BA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2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직사각형 26"/>
          <p:cNvSpPr>
            <a:spLocks noGrp="1"/>
          </p:cNvSpPr>
          <p:nvPr/>
        </p:nvSpPr>
        <p:spPr>
          <a:xfrm>
            <a:off x="380880" y="1380960"/>
            <a:ext cx="266652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직사각형 27"/>
          <p:cNvSpPr>
            <a:spLocks noGrp="1"/>
          </p:cNvSpPr>
          <p:nvPr/>
        </p:nvSpPr>
        <p:spPr>
          <a:xfrm>
            <a:off x="571680" y="1542960"/>
            <a:ext cx="228564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다루</a:t>
            </a:r>
            <a:r>
              <a:rPr lang="ko-KR" altLang="en-US"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고자 하는</a:t>
            </a: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 상황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FB1541-A258-4920-A3F2-16E3B0D71086}"/>
              </a:ext>
            </a:extLst>
          </p:cNvPr>
          <p:cNvSpPr>
            <a:spLocks noGrp="1"/>
          </p:cNvSpPr>
          <p:nvPr/>
        </p:nvSpPr>
        <p:spPr>
          <a:xfrm>
            <a:off x="571680" y="1990800"/>
            <a:ext cx="2285640" cy="24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현재 문제 또는 미래 수요 중 어떤 상황을 다루나요?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[다루는 상황과 문제를 설명하세요]</a:t>
            </a:r>
          </a:p>
        </p:txBody>
      </p:sp>
      <p:sp>
        <p:nvSpPr>
          <p:cNvPr id="30" name="직사각형 29"/>
          <p:cNvSpPr>
            <a:spLocks noGrp="1"/>
          </p:cNvSpPr>
          <p:nvPr/>
        </p:nvSpPr>
        <p:spPr>
          <a:xfrm>
            <a:off x="3238560" y="1380960"/>
            <a:ext cx="266652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직사각형 30"/>
          <p:cNvSpPr>
            <a:spLocks noGrp="1"/>
          </p:cNvSpPr>
          <p:nvPr/>
        </p:nvSpPr>
        <p:spPr>
          <a:xfrm>
            <a:off x="3429000" y="1542960"/>
            <a:ext cx="228564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500" b="1" u="none" strike="noStrike">
                <a:solidFill>
                  <a:schemeClr val="dk2"/>
                </a:solidFill>
                <a:latin typeface="NanumGothic"/>
                <a:ea typeface="NanumGothic"/>
                <a:cs typeface="NanumGothic"/>
              </a:rPr>
              <a:t>미래를 상정한다면</a:t>
            </a:r>
            <a:endParaRPr sz="1500" b="0" u="none" strike="noStrik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직사각형 31"/>
          <p:cNvSpPr>
            <a:spLocks noGrp="1"/>
          </p:cNvSpPr>
          <p:nvPr/>
        </p:nvSpPr>
        <p:spPr>
          <a:xfrm>
            <a:off x="3429000" y="1990800"/>
            <a:ext cx="228564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양자컴퓨터의 역량과 사회 변화를 어느 수준으로 가정하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고 있나요</a:t>
            </a:r>
            <a:r>
              <a:rPr lang="en-US" altLang="ko-KR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[팀의 전제와 </a:t>
            </a:r>
            <a:r>
              <a:rPr sz="1280" b="1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근거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를 적으세요]</a:t>
            </a:r>
          </a:p>
        </p:txBody>
      </p:sp>
      <p:sp>
        <p:nvSpPr>
          <p:cNvPr id="33" name="직사각형 32"/>
          <p:cNvSpPr>
            <a:spLocks noGrp="1"/>
          </p:cNvSpPr>
          <p:nvPr/>
        </p:nvSpPr>
        <p:spPr>
          <a:xfrm>
            <a:off x="6095880" y="1380960"/>
            <a:ext cx="266652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CC5BA62-8813-4345-BC32-A7E5B3140292}"/>
              </a:ext>
            </a:extLst>
          </p:cNvPr>
          <p:cNvSpPr>
            <a:spLocks noGrp="1"/>
          </p:cNvSpPr>
          <p:nvPr/>
        </p:nvSpPr>
        <p:spPr>
          <a:xfrm>
            <a:off x="6286680" y="1542960"/>
            <a:ext cx="22856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상황을 다루는 이유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직사각형 34"/>
          <p:cNvSpPr>
            <a:spLocks noGrp="1"/>
          </p:cNvSpPr>
          <p:nvPr/>
        </p:nvSpPr>
        <p:spPr>
          <a:xfrm>
            <a:off x="6286680" y="1990800"/>
            <a:ext cx="228564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해결할 문제와 수요를 드러내세요.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[왜 이 상황을 다루나요?]</a:t>
            </a:r>
          </a:p>
        </p:txBody>
      </p:sp>
    </p:spTree>
    <p:extLst>
      <p:ext uri="{BB962C8B-B14F-4D97-AF65-F5344CB8AC3E}">
        <p14:creationId xmlns:p14="http://schemas.microsoft.com/office/powerpoint/2010/main" val="122831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45;p5">
            <a:extLst>
              <a:ext uri="{FF2B5EF4-FFF2-40B4-BE49-F238E27FC236}">
                <a16:creationId xmlns:a16="http://schemas.microsoft.com/office/drawing/2014/main" id="{57B7A5D6-2143-493A-B932-49E511F17667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148;p5">
            <a:extLst>
              <a:ext uri="{FF2B5EF4-FFF2-40B4-BE49-F238E27FC236}">
                <a16:creationId xmlns:a16="http://schemas.microsoft.com/office/drawing/2014/main" id="{9AEE34BA-7578-47D2-8289-973D3618C1F3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D90EA0-9D45-4128-A8B0-66EA3A0B9440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02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해결할 문제</a:t>
            </a:r>
            <a:endParaRPr lang="ko-KR" altLang="en-US" sz="2250" b="1" u="none" strike="noStrike">
              <a:solidFill>
                <a:srgbClr val="003876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95BCD4D-88B4-4286-BB4C-D773EBDF1A9A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02D1673-D184-4391-92C2-125FB1635A5A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3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직사각형 41"/>
          <p:cNvSpPr>
            <a:spLocks noGrp="1"/>
          </p:cNvSpPr>
          <p:nvPr/>
        </p:nvSpPr>
        <p:spPr>
          <a:xfrm>
            <a:off x="38088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0F46936-74F8-4897-979F-2A3A32122EF5}"/>
              </a:ext>
            </a:extLst>
          </p:cNvPr>
          <p:cNvSpPr>
            <a:spLocks noGrp="1"/>
          </p:cNvSpPr>
          <p:nvPr/>
        </p:nvSpPr>
        <p:spPr>
          <a:xfrm>
            <a:off x="57168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해결할 문제와 중요성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직사각형 43"/>
          <p:cNvSpPr>
            <a:spLocks noGrp="1"/>
          </p:cNvSpPr>
          <p:nvPr/>
        </p:nvSpPr>
        <p:spPr>
          <a:xfrm>
            <a:off x="57168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무엇이 문제인가요? 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누구에게 어떤 불편·손실·수요가 있나요?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[문제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와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 해결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해야 하는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 이유를 설명하세요]</a:t>
            </a:r>
          </a:p>
        </p:txBody>
      </p:sp>
      <p:sp>
        <p:nvSpPr>
          <p:cNvPr id="45" name="직사각형 44"/>
          <p:cNvSpPr>
            <a:spLocks noGrp="1"/>
          </p:cNvSpPr>
          <p:nvPr/>
        </p:nvSpPr>
        <p:spPr>
          <a:xfrm>
            <a:off x="466740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직사각형 45"/>
          <p:cNvSpPr>
            <a:spLocks noGrp="1"/>
          </p:cNvSpPr>
          <p:nvPr/>
        </p:nvSpPr>
        <p:spPr>
          <a:xfrm>
            <a:off x="485784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현재</a:t>
            </a:r>
            <a:r>
              <a:rPr lang="ko-KR" altLang="en-US"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의 해결 방식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DCD300-CE00-4B98-97EF-8C7E31BD7EFC}"/>
              </a:ext>
            </a:extLst>
          </p:cNvPr>
          <p:cNvSpPr>
            <a:spLocks noGrp="1"/>
          </p:cNvSpPr>
          <p:nvPr/>
        </p:nvSpPr>
        <p:spPr>
          <a:xfrm>
            <a:off x="485784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지금은 어떤 방식으로 해결하나요?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[기존 대안이 충족하지 못하는 부분을 설명하세요]</a:t>
            </a:r>
          </a:p>
        </p:txBody>
      </p:sp>
    </p:spTree>
    <p:extLst>
      <p:ext uri="{BB962C8B-B14F-4D97-AF65-F5344CB8AC3E}">
        <p14:creationId xmlns:p14="http://schemas.microsoft.com/office/powerpoint/2010/main" val="133910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45;p5">
            <a:extLst>
              <a:ext uri="{FF2B5EF4-FFF2-40B4-BE49-F238E27FC236}">
                <a16:creationId xmlns:a16="http://schemas.microsoft.com/office/drawing/2014/main" id="{57B7A5D6-2143-493A-B932-49E511F17667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148;p5">
            <a:extLst>
              <a:ext uri="{FF2B5EF4-FFF2-40B4-BE49-F238E27FC236}">
                <a16:creationId xmlns:a16="http://schemas.microsoft.com/office/drawing/2014/main" id="{9AEE34BA-7578-47D2-8289-973D3618C1F3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D90EA0-9D45-4128-A8B0-66EA3A0B9440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03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8397AF0-2A47-4D65-A197-0C702B69C61A}"/>
              </a:ext>
            </a:extLst>
          </p:cNvPr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사용자와 핵심 수요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95BCD4D-88B4-4286-BB4C-D773EBDF1A9A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02D1673-D184-4391-92C2-125FB1635A5A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4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직사각형 41"/>
          <p:cNvSpPr>
            <a:spLocks noGrp="1"/>
          </p:cNvSpPr>
          <p:nvPr/>
        </p:nvSpPr>
        <p:spPr>
          <a:xfrm>
            <a:off x="38088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0F46936-74F8-4897-979F-2A3A32122EF5}"/>
              </a:ext>
            </a:extLst>
          </p:cNvPr>
          <p:cNvSpPr>
            <a:spLocks noGrp="1"/>
          </p:cNvSpPr>
          <p:nvPr/>
        </p:nvSpPr>
        <p:spPr>
          <a:xfrm>
            <a:off x="57168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핵심 사용자·수혜자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88D5B60-5E73-471C-A4A0-01135504209E}"/>
              </a:ext>
            </a:extLst>
          </p:cNvPr>
          <p:cNvSpPr>
            <a:spLocks noGrp="1"/>
          </p:cNvSpPr>
          <p:nvPr/>
        </p:nvSpPr>
        <p:spPr>
          <a:xfrm>
            <a:off x="57168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누가 서비스를 직접 사용하고, 누가 혜택을 받나요?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[사용자의 역할과 특성을 적으세요]</a:t>
            </a:r>
          </a:p>
        </p:txBody>
      </p:sp>
      <p:sp>
        <p:nvSpPr>
          <p:cNvPr id="45" name="직사각형 44"/>
          <p:cNvSpPr>
            <a:spLocks noGrp="1"/>
          </p:cNvSpPr>
          <p:nvPr/>
        </p:nvSpPr>
        <p:spPr>
          <a:xfrm>
            <a:off x="466740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DB22A76-E8E2-4E62-B61A-90C1AECB6601}"/>
              </a:ext>
            </a:extLst>
          </p:cNvPr>
          <p:cNvSpPr>
            <a:spLocks noGrp="1"/>
          </p:cNvSpPr>
          <p:nvPr/>
        </p:nvSpPr>
        <p:spPr>
          <a:xfrm>
            <a:off x="485784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필요와 근거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DCD300-CE00-4B98-97EF-8C7E31BD7EFC}"/>
              </a:ext>
            </a:extLst>
          </p:cNvPr>
          <p:cNvSpPr>
            <a:spLocks noGrp="1"/>
          </p:cNvSpPr>
          <p:nvPr/>
        </p:nvSpPr>
        <p:spPr>
          <a:xfrm>
            <a:off x="485784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언제, 왜 이 서비스가 필요한가요?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[현황 조사·관찰·인터뷰·자료 등 수요의 근거를 적으세요]</a:t>
            </a:r>
          </a:p>
        </p:txBody>
      </p:sp>
    </p:spTree>
    <p:extLst>
      <p:ext uri="{BB962C8B-B14F-4D97-AF65-F5344CB8AC3E}">
        <p14:creationId xmlns:p14="http://schemas.microsoft.com/office/powerpoint/2010/main" val="133910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58;p6">
            <a:extLst>
              <a:ext uri="{FF2B5EF4-FFF2-40B4-BE49-F238E27FC236}">
                <a16:creationId xmlns:a16="http://schemas.microsoft.com/office/drawing/2014/main" id="{B0D81B37-1795-4CD4-A218-BC0B914817DC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Google Shape;161;p6">
            <a:extLst>
              <a:ext uri="{FF2B5EF4-FFF2-40B4-BE49-F238E27FC236}">
                <a16:creationId xmlns:a16="http://schemas.microsoft.com/office/drawing/2014/main" id="{69703D93-692D-4466-AA16-E08E6BABF47C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78522B1-A8F0-4BFA-B5F6-FC652BBB70BF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04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30DB1CE-C729-4F80-9801-C4A19441E899}"/>
              </a:ext>
            </a:extLst>
          </p:cNvPr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제안하는 서비스·경험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E8C05A-21CF-4D79-83E7-AAFF76F8683A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5D72535-E32B-48AC-BA4A-EF99E88558B5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5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0308E44-0A7B-43AA-B849-19B843539686}"/>
              </a:ext>
            </a:extLst>
          </p:cNvPr>
          <p:cNvSpPr>
            <a:spLocks noGrp="1"/>
          </p:cNvSpPr>
          <p:nvPr/>
        </p:nvSpPr>
        <p:spPr>
          <a:xfrm>
            <a:off x="409680" y="1324080"/>
            <a:ext cx="8334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누구의 어떤 필요를 어떤 서비스 경험으로 해결하나요?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직사각형 54"/>
          <p:cNvSpPr>
            <a:spLocks noGrp="1"/>
          </p:cNvSpPr>
          <p:nvPr/>
        </p:nvSpPr>
        <p:spPr>
          <a:xfrm>
            <a:off x="380880" y="1933560"/>
            <a:ext cx="5285880" cy="26665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005B6D5-438A-4FF2-8F32-E98DB0B78074}"/>
              </a:ext>
            </a:extLst>
          </p:cNvPr>
          <p:cNvSpPr>
            <a:spLocks noGrp="1"/>
          </p:cNvSpPr>
          <p:nvPr/>
        </p:nvSpPr>
        <p:spPr>
          <a:xfrm>
            <a:off x="714240" y="3019320"/>
            <a:ext cx="461916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서비스 구조와 이용 흐름 예시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직사각형 56"/>
          <p:cNvSpPr>
            <a:spLocks noGrp="1"/>
          </p:cNvSpPr>
          <p:nvPr/>
        </p:nvSpPr>
        <p:spPr>
          <a:xfrm>
            <a:off x="5857920" y="1933560"/>
            <a:ext cx="2904840" cy="26665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72CF92C-5768-484C-992A-B93F26FF087D}"/>
              </a:ext>
            </a:extLst>
          </p:cNvPr>
          <p:cNvSpPr>
            <a:spLocks noGrp="1"/>
          </p:cNvSpPr>
          <p:nvPr/>
        </p:nvSpPr>
        <p:spPr>
          <a:xfrm>
            <a:off x="6048360" y="2095560"/>
            <a:ext cx="25236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기능과 서비스 이용 상황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08A2E43-E12D-497B-96EE-7630CD0A96DB}"/>
              </a:ext>
            </a:extLst>
          </p:cNvPr>
          <p:cNvSpPr>
            <a:spLocks noGrp="1"/>
          </p:cNvSpPr>
          <p:nvPr/>
        </p:nvSpPr>
        <p:spPr>
          <a:xfrm>
            <a:off x="6048360" y="2543040"/>
            <a:ext cx="2523600" cy="19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서비스의 핵심 기능은 무엇인가요?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[누가, 어떤 상황에서 이용하는지와 서비스가 돌려주는 결과를 표현하세요]</a:t>
            </a:r>
          </a:p>
        </p:txBody>
      </p:sp>
    </p:spTree>
    <p:extLst>
      <p:ext uri="{BB962C8B-B14F-4D97-AF65-F5344CB8AC3E}">
        <p14:creationId xmlns:p14="http://schemas.microsoft.com/office/powerpoint/2010/main" val="168582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34;p4">
            <a:extLst>
              <a:ext uri="{FF2B5EF4-FFF2-40B4-BE49-F238E27FC236}">
                <a16:creationId xmlns:a16="http://schemas.microsoft.com/office/drawing/2014/main" id="{01E5E252-E5A5-4AF0-9D8C-7C0F27141079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137;p4">
            <a:extLst>
              <a:ext uri="{FF2B5EF4-FFF2-40B4-BE49-F238E27FC236}">
                <a16:creationId xmlns:a16="http://schemas.microsoft.com/office/drawing/2014/main" id="{4CA5F644-30F6-4C16-8B8E-665FAD6D67CC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3E59D9-0B92-42C3-9881-0C3364DE61D4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05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직사각형 62"/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ko-KR" altLang="en-US"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양자기술의 역할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49AF3E-4650-4957-8DB4-70FDAD8304D4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E4A3DF3-8712-4CC5-A367-D800E98F3406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6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직사각형 65"/>
          <p:cNvSpPr>
            <a:spLocks noGrp="1"/>
          </p:cNvSpPr>
          <p:nvPr/>
        </p:nvSpPr>
        <p:spPr>
          <a:xfrm>
            <a:off x="380880" y="1380960"/>
            <a:ext cx="2571480" cy="3295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직사각형 66"/>
          <p:cNvSpPr>
            <a:spLocks noGrp="1"/>
          </p:cNvSpPr>
          <p:nvPr/>
        </p:nvSpPr>
        <p:spPr>
          <a:xfrm>
            <a:off x="571680" y="1542960"/>
            <a:ext cx="219024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데이터와 조건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직사각형 67"/>
          <p:cNvSpPr>
            <a:spLocks noGrp="1"/>
          </p:cNvSpPr>
          <p:nvPr/>
        </p:nvSpPr>
        <p:spPr>
          <a:xfrm>
            <a:off x="571680" y="1990800"/>
            <a:ext cx="2190240" cy="199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어떤 입력 데이터와 조건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을 활용하나요</a:t>
            </a:r>
            <a:r>
              <a:rPr lang="en-US" altLang="ko-KR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[데이터 출처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를 반드시 밝혀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 적으세요]</a:t>
            </a:r>
          </a:p>
        </p:txBody>
      </p:sp>
      <p:sp>
        <p:nvSpPr>
          <p:cNvPr id="69" name="직사각형 68"/>
          <p:cNvSpPr>
            <a:spLocks noGrp="1"/>
          </p:cNvSpPr>
          <p:nvPr/>
        </p:nvSpPr>
        <p:spPr>
          <a:xfrm>
            <a:off x="3143160" y="1380960"/>
            <a:ext cx="2857320" cy="3295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67E5EE7-B32B-45A0-A1E4-7F7998E809C3}"/>
              </a:ext>
            </a:extLst>
          </p:cNvPr>
          <p:cNvSpPr>
            <a:spLocks noGrp="1"/>
          </p:cNvSpPr>
          <p:nvPr/>
        </p:nvSpPr>
        <p:spPr>
          <a:xfrm>
            <a:off x="3333600" y="1542960"/>
            <a:ext cx="24760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양자 기술의 역할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F7EE618-FB96-425D-8406-F74BC05605EF}"/>
              </a:ext>
            </a:extLst>
          </p:cNvPr>
          <p:cNvSpPr>
            <a:spLocks noGrp="1"/>
          </p:cNvSpPr>
          <p:nvPr/>
        </p:nvSpPr>
        <p:spPr>
          <a:xfrm>
            <a:off x="3333600" y="1990800"/>
            <a:ext cx="2476080" cy="19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양자컴퓨터가 어떤 계산·탐색을 하나요?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[입력, 기대 출력, 서비스에서 결과를 쓰는 곳을 적으세요]</a:t>
            </a:r>
          </a:p>
        </p:txBody>
      </p:sp>
      <p:sp>
        <p:nvSpPr>
          <p:cNvPr id="72" name="직사각형 71"/>
          <p:cNvSpPr>
            <a:spLocks noGrp="1"/>
          </p:cNvSpPr>
          <p:nvPr/>
        </p:nvSpPr>
        <p:spPr>
          <a:xfrm>
            <a:off x="6191280" y="1380960"/>
            <a:ext cx="2571480" cy="3295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7817DF8-5D28-4393-BCED-7DED9E2BFBB8}"/>
              </a:ext>
            </a:extLst>
          </p:cNvPr>
          <p:cNvSpPr>
            <a:spLocks noGrp="1"/>
          </p:cNvSpPr>
          <p:nvPr/>
        </p:nvSpPr>
        <p:spPr>
          <a:xfrm>
            <a:off x="6381720" y="1542960"/>
            <a:ext cx="2190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양자컴퓨터를 쓰는 이유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03CA16-FCEA-4F09-8FBE-832B100B853B}"/>
              </a:ext>
            </a:extLst>
          </p:cNvPr>
          <p:cNvSpPr>
            <a:spLocks noGrp="1"/>
          </p:cNvSpPr>
          <p:nvPr/>
        </p:nvSpPr>
        <p:spPr>
          <a:xfrm>
            <a:off x="6381720" y="1990800"/>
            <a:ext cx="2190240" cy="19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고전 컴퓨터나 현재 대안과 비교해 어떤 점을 기대하나요?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[필요한 기술 조건과 가정을 적으세요]</a:t>
            </a:r>
          </a:p>
        </p:txBody>
      </p:sp>
    </p:spTree>
    <p:extLst>
      <p:ext uri="{BB962C8B-B14F-4D97-AF65-F5344CB8AC3E}">
        <p14:creationId xmlns:p14="http://schemas.microsoft.com/office/powerpoint/2010/main" val="14890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85;p8">
            <a:extLst>
              <a:ext uri="{FF2B5EF4-FFF2-40B4-BE49-F238E27FC236}">
                <a16:creationId xmlns:a16="http://schemas.microsoft.com/office/drawing/2014/main" id="{521608FD-420C-42A4-ABB5-FD2A004FEA28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188;p8">
            <a:extLst>
              <a:ext uri="{FF2B5EF4-FFF2-40B4-BE49-F238E27FC236}">
                <a16:creationId xmlns:a16="http://schemas.microsoft.com/office/drawing/2014/main" id="{7476C9F9-EC95-47B7-9AD5-467D39F3EF1C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137E21D-AF26-4455-B547-9E390CAD0A6B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선택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직사각형 77"/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ko-KR"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Proof of Concept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69FF2E2-6E83-4344-A556-016AE56224DA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246A680-E90C-4188-8487-978B593138D5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7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직사각형 80"/>
          <p:cNvSpPr>
            <a:spLocks noGrp="1"/>
          </p:cNvSpPr>
          <p:nvPr/>
        </p:nvSpPr>
        <p:spPr>
          <a:xfrm>
            <a:off x="380880" y="1380960"/>
            <a:ext cx="34761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A847791-7112-410C-A45A-5BB977B3C461}"/>
              </a:ext>
            </a:extLst>
          </p:cNvPr>
          <p:cNvSpPr>
            <a:spLocks noGrp="1"/>
          </p:cNvSpPr>
          <p:nvPr/>
        </p:nvSpPr>
        <p:spPr>
          <a:xfrm>
            <a:off x="666720" y="2781360"/>
            <a:ext cx="295236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87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PoC가 있다면 결과와 한계를 제시하세요.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87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미제출도 감점하지 않습니다.</a:t>
            </a:r>
          </a:p>
        </p:txBody>
      </p:sp>
      <p:sp>
        <p:nvSpPr>
          <p:cNvPr id="83" name="직사각형 82"/>
          <p:cNvSpPr>
            <a:spLocks noGrp="1"/>
          </p:cNvSpPr>
          <p:nvPr/>
        </p:nvSpPr>
        <p:spPr>
          <a:xfrm>
            <a:off x="4143240" y="1380960"/>
            <a:ext cx="4619160" cy="1009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6DDCF0E-907B-494A-A51C-A5000B6A5243}"/>
              </a:ext>
            </a:extLst>
          </p:cNvPr>
          <p:cNvSpPr>
            <a:spLocks noGrp="1"/>
          </p:cNvSpPr>
          <p:nvPr/>
        </p:nvSpPr>
        <p:spPr>
          <a:xfrm>
            <a:off x="4314960" y="1495440"/>
            <a:ext cx="424764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01  검증 질문과 방법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CBFC74-5B7A-4874-9733-361A85ACE1D8}"/>
              </a:ext>
            </a:extLst>
          </p:cNvPr>
          <p:cNvSpPr>
            <a:spLocks noGrp="1"/>
          </p:cNvSpPr>
          <p:nvPr/>
        </p:nvSpPr>
        <p:spPr>
          <a:xfrm>
            <a:off x="4314960" y="1876320"/>
            <a:ext cx="424764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무엇을 확인하려 했나요?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[비교 기준과 테스트 방법]</a:t>
            </a:r>
          </a:p>
        </p:txBody>
      </p:sp>
      <p:sp>
        <p:nvSpPr>
          <p:cNvPr id="86" name="직사각형 85"/>
          <p:cNvSpPr>
            <a:spLocks noGrp="1"/>
          </p:cNvSpPr>
          <p:nvPr/>
        </p:nvSpPr>
        <p:spPr>
          <a:xfrm>
            <a:off x="4143240" y="2486160"/>
            <a:ext cx="4619160" cy="1009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5996B95-7165-414C-9306-F058B4A53771}"/>
              </a:ext>
            </a:extLst>
          </p:cNvPr>
          <p:cNvSpPr>
            <a:spLocks noGrp="1"/>
          </p:cNvSpPr>
          <p:nvPr/>
        </p:nvSpPr>
        <p:spPr>
          <a:xfrm>
            <a:off x="4314960" y="2600280"/>
            <a:ext cx="424764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02  도구와 실행 환경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31488F1-CF2E-4958-AA12-23330ED33770}"/>
              </a:ext>
            </a:extLst>
          </p:cNvPr>
          <p:cNvSpPr>
            <a:spLocks noGrp="1"/>
          </p:cNvSpPr>
          <p:nvPr/>
        </p:nvSpPr>
        <p:spPr>
          <a:xfrm>
            <a:off x="4314960" y="2981160"/>
            <a:ext cx="424764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Python 사용 가능, Qiskit 권장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[입력·환경·실행 순서]</a:t>
            </a:r>
          </a:p>
        </p:txBody>
      </p:sp>
      <p:sp>
        <p:nvSpPr>
          <p:cNvPr id="89" name="직사각형 88"/>
          <p:cNvSpPr>
            <a:spLocks noGrp="1"/>
          </p:cNvSpPr>
          <p:nvPr/>
        </p:nvSpPr>
        <p:spPr>
          <a:xfrm>
            <a:off x="4143240" y="3591000"/>
            <a:ext cx="4619160" cy="100944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8842954-D3A9-463A-B000-A740136630FA}"/>
              </a:ext>
            </a:extLst>
          </p:cNvPr>
          <p:cNvSpPr>
            <a:spLocks noGrp="1"/>
          </p:cNvSpPr>
          <p:nvPr/>
        </p:nvSpPr>
        <p:spPr>
          <a:xfrm>
            <a:off x="4314960" y="3705120"/>
            <a:ext cx="424764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43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03  결과와 해석</a:t>
            </a:r>
            <a:endParaRPr sz="14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3C963B3-6BA7-44C6-B158-E127CBA179D5}"/>
              </a:ext>
            </a:extLst>
          </p:cNvPr>
          <p:cNvSpPr>
            <a:spLocks noGrp="1"/>
          </p:cNvSpPr>
          <p:nvPr/>
        </p:nvSpPr>
        <p:spPr>
          <a:xfrm>
            <a:off x="4314960" y="4086360"/>
            <a:ext cx="424764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무엇을 확인했나요?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0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[결과의 의미와 한계]</a:t>
            </a:r>
          </a:p>
        </p:txBody>
      </p:sp>
    </p:spTree>
    <p:extLst>
      <p:ext uri="{BB962C8B-B14F-4D97-AF65-F5344CB8AC3E}">
        <p14:creationId xmlns:p14="http://schemas.microsoft.com/office/powerpoint/2010/main" val="99172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69;p7">
            <a:extLst>
              <a:ext uri="{FF2B5EF4-FFF2-40B4-BE49-F238E27FC236}">
                <a16:creationId xmlns:a16="http://schemas.microsoft.com/office/drawing/2014/main" id="{4D97FE2D-C4AA-4479-BF02-9CC64E6C8EB4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172;p7">
            <a:extLst>
              <a:ext uri="{FF2B5EF4-FFF2-40B4-BE49-F238E27FC236}">
                <a16:creationId xmlns:a16="http://schemas.microsoft.com/office/drawing/2014/main" id="{48E0CAF1-0CF3-497C-9698-6B6F2A09218E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C620602-C1E2-4EFE-A74E-3169F9D91973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06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직사각형 94"/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ko-KR" altLang="en-US"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기대효과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14489F9-47F1-42BB-83FF-E2BBECE4C6FB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5763E6CA-18B1-4F20-87EE-7DD22AAD427A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8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직사각형 97"/>
          <p:cNvSpPr>
            <a:spLocks noGrp="1"/>
          </p:cNvSpPr>
          <p:nvPr/>
        </p:nvSpPr>
        <p:spPr>
          <a:xfrm>
            <a:off x="38088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직사각형 98"/>
          <p:cNvSpPr>
            <a:spLocks noGrp="1"/>
          </p:cNvSpPr>
          <p:nvPr/>
        </p:nvSpPr>
        <p:spPr>
          <a:xfrm>
            <a:off x="57168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ko-KR"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사용자·사회에 생기는 변화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AC68CF4-53DA-4EB1-BB4B-E66437572FF1}"/>
              </a:ext>
            </a:extLst>
          </p:cNvPr>
          <p:cNvSpPr>
            <a:spLocks noGrp="1"/>
          </p:cNvSpPr>
          <p:nvPr/>
        </p:nvSpPr>
        <p:spPr>
          <a:xfrm>
            <a:off x="57168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누가 어떤 혜택을 받나요?</a:t>
            </a: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[현재 방식과 비교해 달라질 점]</a:t>
            </a:r>
          </a:p>
          <a:p>
            <a:pPr>
              <a:lnSpc>
                <a:spcPct val="100000"/>
              </a:lnSpc>
              <a:buNone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[효과의 범위와 수혜자]</a:t>
            </a:r>
          </a:p>
        </p:txBody>
      </p:sp>
      <p:sp>
        <p:nvSpPr>
          <p:cNvPr id="101" name="직사각형 100"/>
          <p:cNvSpPr>
            <a:spLocks noGrp="1"/>
          </p:cNvSpPr>
          <p:nvPr/>
        </p:nvSpPr>
        <p:spPr>
          <a:xfrm>
            <a:off x="466740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직사각형 101"/>
          <p:cNvSpPr>
            <a:spLocks noGrp="1"/>
          </p:cNvSpPr>
          <p:nvPr/>
        </p:nvSpPr>
        <p:spPr>
          <a:xfrm>
            <a:off x="485784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ko-KR" altLang="en-US" sz="1500" b="1" u="none" strike="noStrike">
                <a:solidFill>
                  <a:srgbClr val="B2B2B2"/>
                </a:solidFill>
                <a:latin typeface="NanumGothic"/>
                <a:ea typeface="NanumGothic"/>
                <a:cs typeface="NanumGothic"/>
              </a:rPr>
              <a:t>정량적으로 효과를 확인할 수 있다면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lang="ko-KR" altLang="en-US" sz="1500" b="1" u="none" strike="noStrike">
                <a:solidFill>
                  <a:srgbClr val="B2B2B2"/>
                </a:solidFill>
                <a:latin typeface="NanumGothic"/>
                <a:ea typeface="NanumGothic"/>
                <a:cs typeface="NanumGothic"/>
              </a:rPr>
              <a:t>그 기준을 밝혀 적어주세요</a:t>
            </a:r>
            <a:r>
              <a:rPr lang="en-US" altLang="ko-KR" sz="1500" b="1" u="none" strike="noStrike">
                <a:solidFill>
                  <a:srgbClr val="B2B2B2"/>
                </a:solidFill>
                <a:latin typeface="NanumGothic"/>
                <a:ea typeface="NanumGothic"/>
                <a:cs typeface="NanumGothic"/>
              </a:rPr>
              <a:t>.</a:t>
            </a:r>
          </a:p>
        </p:txBody>
      </p:sp>
      <p:sp>
        <p:nvSpPr>
          <p:cNvPr id="103" name="직사각형 102"/>
          <p:cNvSpPr>
            <a:spLocks noGrp="1"/>
          </p:cNvSpPr>
          <p:nvPr/>
        </p:nvSpPr>
        <p:spPr>
          <a:xfrm>
            <a:off x="4857840" y="2176352"/>
            <a:ext cx="3714480" cy="227144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효과를 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어떻게 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확인할 수 있나요?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[예: 시간·비용·접근성·품질]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[비교 기준과 확인 방법]</a:t>
            </a:r>
          </a:p>
        </p:txBody>
      </p:sp>
    </p:spTree>
    <p:extLst>
      <p:ext uri="{BB962C8B-B14F-4D97-AF65-F5344CB8AC3E}">
        <p14:creationId xmlns:p14="http://schemas.microsoft.com/office/powerpoint/2010/main" val="92374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6;p9">
            <a:extLst>
              <a:ext uri="{FF2B5EF4-FFF2-40B4-BE49-F238E27FC236}">
                <a16:creationId xmlns:a16="http://schemas.microsoft.com/office/drawing/2014/main" id="{629F73E8-4BEE-4293-9756-31D37FE316E5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209;p9">
            <a:extLst>
              <a:ext uri="{FF2B5EF4-FFF2-40B4-BE49-F238E27FC236}">
                <a16:creationId xmlns:a16="http://schemas.microsoft.com/office/drawing/2014/main" id="{F9659E33-FD05-4272-82F4-BCF9B0D47BF2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C6C148E-59FF-4203-B413-D93FB73BD3DD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07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3992987-EC82-407F-9797-FD4E9A85C281}"/>
              </a:ext>
            </a:extLst>
          </p:cNvPr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운영 모델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0F5DB-E782-46D8-8EC3-9A1FE7A2C376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28ADE11-E885-40BB-AF2B-1AB3710E4A16}"/>
              </a:ext>
            </a:extLst>
          </p:cNvPr>
          <p:cNvSpPr>
            <a:spLocks noGrp="1"/>
          </p:cNvSpPr>
          <p:nvPr/>
        </p:nvSpPr>
        <p:spPr>
          <a:xfrm>
            <a:off x="8334360" y="4857840"/>
            <a:ext cx="475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9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직사각형 109"/>
          <p:cNvSpPr>
            <a:spLocks noGrp="1"/>
          </p:cNvSpPr>
          <p:nvPr/>
        </p:nvSpPr>
        <p:spPr>
          <a:xfrm>
            <a:off x="38088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8E28E93-F0DE-4768-B6CE-2248480286DB}"/>
              </a:ext>
            </a:extLst>
          </p:cNvPr>
          <p:cNvSpPr>
            <a:spLocks noGrp="1"/>
          </p:cNvSpPr>
          <p:nvPr/>
        </p:nvSpPr>
        <p:spPr>
          <a:xfrm>
            <a:off x="57168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운영 주체와 협력자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직사각형 111"/>
          <p:cNvSpPr>
            <a:spLocks noGrp="1"/>
          </p:cNvSpPr>
          <p:nvPr/>
        </p:nvSpPr>
        <p:spPr>
          <a:xfrm>
            <a:off x="57168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누가 서비스를 운영하고 누구와 협력하나요?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[필요한 역할·자원·파트너를 적으세요]</a:t>
            </a:r>
          </a:p>
        </p:txBody>
      </p:sp>
      <p:sp>
        <p:nvSpPr>
          <p:cNvPr id="113" name="직사각형 112"/>
          <p:cNvSpPr>
            <a:spLocks noGrp="1"/>
          </p:cNvSpPr>
          <p:nvPr/>
        </p:nvSpPr>
        <p:spPr>
          <a:xfrm>
            <a:off x="466740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직사각형 113"/>
          <p:cNvSpPr>
            <a:spLocks noGrp="1"/>
          </p:cNvSpPr>
          <p:nvPr/>
        </p:nvSpPr>
        <p:spPr>
          <a:xfrm>
            <a:off x="485784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ko-KR" altLang="en-US"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운영</a:t>
            </a: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 방식</a:t>
            </a:r>
          </a:p>
        </p:txBody>
      </p:sp>
      <p:sp>
        <p:nvSpPr>
          <p:cNvPr id="115" name="직사각형 114"/>
          <p:cNvSpPr>
            <a:spLocks noGrp="1"/>
          </p:cNvSpPr>
          <p:nvPr/>
        </p:nvSpPr>
        <p:spPr>
          <a:xfrm>
            <a:off x="485784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ko-KR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* 구체적인 수익 모델을 작성하지 않아도 괜찮습니다.</a:t>
            </a: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</p:txBody>
      </p:sp>
    </p:spTree>
    <p:extLst>
      <p:ext uri="{BB962C8B-B14F-4D97-AF65-F5344CB8AC3E}">
        <p14:creationId xmlns:p14="http://schemas.microsoft.com/office/powerpoint/2010/main" val="16954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6;p9">
            <a:extLst>
              <a:ext uri="{FF2B5EF4-FFF2-40B4-BE49-F238E27FC236}">
                <a16:creationId xmlns:a16="http://schemas.microsoft.com/office/drawing/2014/main" id="{629F73E8-4BEE-4293-9756-31D37FE316E5}"/>
              </a:ext>
            </a:extLst>
          </p:cNvPr>
          <p:cNvSpPr>
            <a:spLocks noGrp="1"/>
          </p:cNvSpPr>
          <p:nvPr/>
        </p:nvSpPr>
        <p:spPr>
          <a:xfrm>
            <a:off x="365760" y="255960"/>
            <a:ext cx="54720" cy="65808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rIns="2736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209;p9">
            <a:extLst>
              <a:ext uri="{FF2B5EF4-FFF2-40B4-BE49-F238E27FC236}">
                <a16:creationId xmlns:a16="http://schemas.microsoft.com/office/drawing/2014/main" id="{F9659E33-FD05-4272-82F4-BCF9B0D47BF2}"/>
              </a:ext>
            </a:extLst>
          </p:cNvPr>
          <p:cNvSpPr>
            <a:spLocks noGrp="1"/>
          </p:cNvSpPr>
          <p:nvPr/>
        </p:nvSpPr>
        <p:spPr>
          <a:xfrm>
            <a:off x="365760" y="1171440"/>
            <a:ext cx="8412120" cy="1800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t">
            <a:noAutofit/>
          </a:bodyPr>
          <a:lstStyle/>
          <a:p>
            <a:pPr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C6C148E-59FF-4203-B413-D93FB73BD3DD}"/>
              </a:ext>
            </a:extLst>
          </p:cNvPr>
          <p:cNvSpPr>
            <a:spLocks noGrp="1"/>
          </p:cNvSpPr>
          <p:nvPr/>
        </p:nvSpPr>
        <p:spPr>
          <a:xfrm>
            <a:off x="590400" y="34308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980" b="0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08</a:t>
            </a:r>
            <a:endParaRPr sz="9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3992987-EC82-407F-9797-FD4E9A85C281}"/>
              </a:ext>
            </a:extLst>
          </p:cNvPr>
          <p:cNvSpPr>
            <a:spLocks noGrp="1"/>
          </p:cNvSpPr>
          <p:nvPr/>
        </p:nvSpPr>
        <p:spPr>
          <a:xfrm>
            <a:off x="590400" y="571680"/>
            <a:ext cx="76197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225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실현 조건과 한계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0F5DB-E782-46D8-8EC3-9A1FE7A2C376}"/>
              </a:ext>
            </a:extLst>
          </p:cNvPr>
          <p:cNvSpPr>
            <a:spLocks noGrp="1"/>
          </p:cNvSpPr>
          <p:nvPr/>
        </p:nvSpPr>
        <p:spPr>
          <a:xfrm>
            <a:off x="380880" y="4876920"/>
            <a:ext cx="5905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75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Qiskit Fall Fest @SNU 2026 · IDEATHON</a:t>
            </a:r>
            <a:endParaRPr sz="7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직사각형 108"/>
          <p:cNvSpPr>
            <a:spLocks noGrp="1"/>
          </p:cNvSpPr>
          <p:nvPr/>
        </p:nvSpPr>
        <p:spPr>
          <a:xfrm>
            <a:off x="8121748" y="4857840"/>
            <a:ext cx="688531" cy="19007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82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10 / 10</a:t>
            </a:r>
            <a:endParaRPr sz="8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직사각형 109"/>
          <p:cNvSpPr>
            <a:spLocks noGrp="1"/>
          </p:cNvSpPr>
          <p:nvPr/>
        </p:nvSpPr>
        <p:spPr>
          <a:xfrm>
            <a:off x="38088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직사각형 110"/>
          <p:cNvSpPr>
            <a:spLocks noGrp="1"/>
          </p:cNvSpPr>
          <p:nvPr/>
        </p:nvSpPr>
        <p:spPr>
          <a:xfrm>
            <a:off x="57168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필요 조건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직사각형 111"/>
          <p:cNvSpPr>
            <a:spLocks noGrp="1"/>
          </p:cNvSpPr>
          <p:nvPr/>
        </p:nvSpPr>
        <p:spPr>
          <a:xfrm>
            <a:off x="57168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필요한 데이터·기술·제도는 무엇인가요?</a:t>
            </a:r>
          </a:p>
          <a:p>
            <a:pPr>
              <a:lnSpc>
                <a:spcPct val="100000"/>
              </a:lnSpc>
              <a:buNone/>
              <a:defRPr/>
            </a:pPr>
            <a:endParaRPr sz="1280" b="0" u="none" strike="noStrike">
              <a:solidFill>
                <a:srgbClr val="6A7C8D"/>
              </a:solidFill>
              <a:latin typeface="NanumGothic"/>
              <a:ea typeface="NanumGothic"/>
              <a:cs typeface="NanumGothic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[현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재 구현 가능한 것과 더 필요한 기술을 구분해 적어주세요</a:t>
            </a:r>
            <a:r>
              <a:rPr lang="en-US" altLang="ko-KR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.</a:t>
            </a:r>
            <a:r>
              <a:rPr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]</a:t>
            </a:r>
          </a:p>
        </p:txBody>
      </p:sp>
      <p:sp>
        <p:nvSpPr>
          <p:cNvPr id="113" name="직사각형 112"/>
          <p:cNvSpPr>
            <a:spLocks noGrp="1"/>
          </p:cNvSpPr>
          <p:nvPr/>
        </p:nvSpPr>
        <p:spPr>
          <a:xfrm>
            <a:off x="4667400" y="1380960"/>
            <a:ext cx="4095360" cy="3219120"/>
          </a:xfrm>
          <a:prstGeom prst="rect">
            <a:avLst/>
          </a:prstGeom>
          <a:solidFill>
            <a:schemeClr val="l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noAutofit/>
          </a:bodyPr>
          <a:lstStyle/>
          <a:p>
            <a:pPr>
              <a:buNone/>
              <a:defRPr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직사각형 113"/>
          <p:cNvSpPr>
            <a:spLocks noGrp="1"/>
          </p:cNvSpPr>
          <p:nvPr/>
        </p:nvSpPr>
        <p:spPr>
          <a:xfrm>
            <a:off x="4857840" y="1542960"/>
            <a:ext cx="3714480" cy="304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ko-KR" altLang="en-US" sz="1500" b="1" u="none" strike="noStrike">
                <a:solidFill>
                  <a:srgbClr val="003876"/>
                </a:solidFill>
                <a:latin typeface="NanumGothic"/>
                <a:ea typeface="NanumGothic"/>
                <a:cs typeface="NanumGothic"/>
              </a:rPr>
              <a:t>한계와 구현 상의 어려움</a:t>
            </a:r>
          </a:p>
        </p:txBody>
      </p:sp>
      <p:sp>
        <p:nvSpPr>
          <p:cNvPr id="115" name="직사각형 114"/>
          <p:cNvSpPr>
            <a:spLocks noGrp="1"/>
          </p:cNvSpPr>
          <p:nvPr/>
        </p:nvSpPr>
        <p:spPr>
          <a:xfrm>
            <a:off x="4857840" y="1990800"/>
            <a:ext cx="3714480" cy="24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altLang="ko-KR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[</a:t>
            </a:r>
            <a:r>
              <a:rPr lang="ko-KR" altLang="en-US" sz="1280" b="0" u="none" strike="noStrike">
                <a:solidFill>
                  <a:srgbClr val="6A7C8D"/>
                </a:solidFill>
                <a:latin typeface="NanumGothic"/>
                <a:ea typeface="NanumGothic"/>
                <a:cs typeface="NanumGothic"/>
              </a:rPr>
              <a:t>이 기술의 한계와 구현 상의 어려움을 적어주세요.]</a:t>
            </a:r>
          </a:p>
        </p:txBody>
      </p:sp>
    </p:spTree>
    <p:extLst>
      <p:ext uri="{BB962C8B-B14F-4D97-AF65-F5344CB8AC3E}">
        <p14:creationId xmlns:p14="http://schemas.microsoft.com/office/powerpoint/2010/main" val="16954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Simple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Simple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Macintosh PowerPoint</Application>
  <PresentationFormat>화면 슬라이드 쇼(16:9)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NanumGothic</vt:lpstr>
      <vt:lpstr>Arial</vt:lpstr>
      <vt:lpstr>Symbol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Seokhun Oh</cp:lastModifiedBy>
  <cp:revision>3</cp:revision>
  <dcterms:modified xsi:type="dcterms:W3CDTF">2026-10-14T14:10:36Z</dcterms:modified>
  <cp:version/>
</cp:coreProperties>
</file>