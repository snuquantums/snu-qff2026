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650" r:id="rId1"/>
  </p:sldMasterIdLst>
  <p:notesMasterIdLst>
    <p:notesMasterId r:id="rId2"/>
  </p:notesMasterIdLst>
  <p:sldIdLst>
    <p:sldId id="256" r:id="rId3"/>
    <p:sldId id="257" r:id="rId4"/>
  </p:sldIdLst>
  <p:sldSz cx="30275213" cy="42803763"/>
  <p:notesSz cx="6858000" cy="9144000"/>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a:tblStyle styleId="{CDE67981-C926-4AC7-AA08-ACFD1CD1FBA1}" styleName="Normal Style 4 - Accent 1">
    <a:wholeTbl>
      <a:tcTxStyle>
        <a:fontRef idx="minor">
          <a:scrgbClr r="0" g="0" b="0"/>
        </a:fontRef>
        <a:schemeClr val="dk1"/>
      </a:tcTxStyle>
      <a:tcStyle>
        <a:tcBdr>
          <a:left>
            <a:ln w="40000" cmpd="sng">
              <a:solidFill>
                <a:schemeClr val="accent1"/>
              </a:solidFill>
            </a:ln>
          </a:left>
          <a:right>
            <a:ln w="40000" cmpd="sng">
              <a:solidFill>
                <a:schemeClr val="accent1"/>
              </a:solidFill>
            </a:ln>
          </a:right>
          <a:top>
            <a:ln w="40000" cmpd="sng">
              <a:solidFill>
                <a:schemeClr val="accent1"/>
              </a:solidFill>
            </a:ln>
          </a:top>
          <a:bottom>
            <a:ln w="400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lum val="90000"/>
            </a:schemeClr>
          </a:solidFill>
        </a:fill>
      </a:tcStyle>
    </a:wholeTbl>
    <a:band1H>
      <a:tcTxStyle/>
      <a:tcStyle>
        <a:tcBdr/>
        <a:fill>
          <a:solidFill>
            <a:schemeClr val="accent1">
              <a:tint val="50000"/>
            </a:schemeClr>
          </a:solidFill>
        </a:fill>
      </a:tcStyle>
    </a:band1H>
    <a:band1V>
      <a:tcTxStyle/>
      <a:tcStyle>
        <a:tcBdr/>
        <a:fill>
          <a:solidFill>
            <a:schemeClr val="accent1">
              <a:tint val="5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fontRef idx="minor">
          <a:scrgbClr r="0" g="0" b="0"/>
        </a:fontRef>
        <a:schemeClr val="accent1">
          <a:shade val="80000"/>
        </a:schemeClr>
      </a:tcTxStyle>
      <a:tcStyle>
        <a:tcBdr>
          <a:bottom>
            <a:ln w="35400" cmpd="sng">
              <a:solidFill>
                <a:schemeClr val="accent1">
                  <a:shade val="80000"/>
                </a:schemeClr>
              </a:solidFill>
            </a:ln>
          </a:bottom>
        </a:tcBdr>
        <a:fill>
          <a:solidFill>
            <a:schemeClr val="accent1">
              <a:tint val="20000"/>
            </a:schemeClr>
          </a:solidFill>
        </a:fill>
      </a:tcStyle>
    </a:firstRow>
  </a:tblStyle>
</a:tblStyleLst>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snapVertSplitter="1">
    <p:restoredLeft sz="12579"/>
    <p:restoredTop sz="56596"/>
  </p:normalViewPr>
  <p:slideViewPr>
    <p:cSldViewPr snapToGrid="0" snapToObjects="1">
      <p:cViewPr>
        <p:scale>
          <a:sx n="40" d="100"/>
          <a:sy n="40" d="100"/>
        </p:scale>
        <p:origin x="0" y="0"/>
      </p:cViewPr>
      <p:guideLst>
        <p:guide orient="horz" pos="13478"/>
        <p:guide pos="9533"/>
      </p:guideLst>
    </p:cSldViewPr>
  </p:slideViewPr>
  <p:notesTextViewPr>
    <p:cViewPr>
      <p:scale>
        <a:sx n="95" d="100"/>
        <a:sy n="95" d="100"/>
      </p:scale>
      <p:origin x="0" y="0"/>
    </p:cViewPr>
  </p:notesText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presProps" Target="presProps.xml"  /><Relationship Id="rId6" Type="http://schemas.openxmlformats.org/officeDocument/2006/relationships/viewProps" Target="viewProps.xml"  /><Relationship Id="rId7" Type="http://schemas.openxmlformats.org/officeDocument/2006/relationships/theme" Target="theme/theme1.xml"  /><Relationship Id="rId8"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idx="0"/>
          </p:nvPr>
        </p:nvSpPr>
        <p:spPr>
          <a:prstGeom prst="rect">
            <a:avLst/>
          </a:prstGeom>
        </p:spPr>
        <p:txBody>
          <a:bodyPr/>
          <a:lstStyle/>
          <a:p/>
        </p:txBody>
      </p:sp>
      <p:sp>
        <p:nvSpPr>
          <p:cNvPr id="3" name="Date Placeholder"/>
          <p:cNvSpPr>
            <a:spLocks noGrp="1"/>
          </p:cNvSpPr>
          <p:nvPr>
            <p:ph type="dt" sz="quarter" idx="1"/>
          </p:nvPr>
        </p:nvSpPr>
        <p:spPr>
          <a:prstGeom prst="rect">
            <a:avLst/>
          </a:prstGeom>
        </p:spPr>
        <p:txBody>
          <a:bodyPr/>
          <a:lstStyle/>
          <a:p/>
        </p:txBody>
      </p:sp>
      <p:sp>
        <p:nvSpPr>
          <p:cNvPr id="4" name="Slide Image Placeholder"/>
          <p:cNvSpPr>
            <a:spLocks noGrp="1" noRot="1" noChangeAspect="1" noTextEdit="1"/>
          </p:cNvSpPr>
          <p:nvPr>
            <p:ph type="sldImg" idx="2"/>
          </p:nvPr>
        </p:nvSpPr>
        <p:spPr>
          <a:prstGeom prst="rect">
            <a:avLst/>
          </a:prstGeom>
        </p:spPr>
        <p:txBody>
          <a:bodyPr/>
          <a:lstStyle/>
          <a:p/>
        </p:txBody>
      </p:sp>
      <p:sp>
        <p:nvSpPr>
          <p:cNvPr id="5" name="Notes Placeholder"/>
          <p:cNvSpPr>
            <a:spLocks noGrp="1"/>
          </p:cNvSpPr>
          <p:nvPr>
            <p:ph type="body" sz="quarter" idx="3"/>
          </p:nvPr>
        </p:nvSpPr>
        <p:spPr>
          <a:prstGeom prst="rect">
            <a:avLst/>
          </a:prstGeom>
        </p:spPr>
        <p:txBody>
          <a:bodyPr/>
          <a:lstStyle/>
          <a:p>
            <a:pPr>
              <a:defRPr/>
            </a:pPr>
            <a:endParaRPr lang="ko-KR" altLang="en-US"/>
          </a:p>
        </p:txBody>
      </p:sp>
      <p:sp>
        <p:nvSpPr>
          <p:cNvPr id="6" name="Footer Placeholder"/>
          <p:cNvSpPr>
            <a:spLocks noGrp="1"/>
          </p:cNvSpPr>
          <p:nvPr>
            <p:ph type="ftr" sz="quarter" idx="4"/>
          </p:nvPr>
        </p:nvSpPr>
        <p:spPr>
          <a:prstGeom prst="rect">
            <a:avLst/>
          </a:prstGeom>
        </p:spPr>
        <p:txBody>
          <a:bodyPr/>
          <a:lstStyle/>
          <a:p/>
        </p:txBody>
      </p:sp>
      <p:sp>
        <p:nvSpPr>
          <p:cNvPr id="7" name="Slide Number Placeholder"/>
          <p:cNvSpPr>
            <a:spLocks noGrp="1"/>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indent="0" algn="l">
              <a:lnSpc>
                <a:spcPct val="100000"/>
              </a:lnSpc>
              <a:buNone/>
              <a:defRPr/>
            </a:pPr>
            <a:r>
              <a:rPr lang="ko-KR" altLang="en-US"/>
              <a:t/>
            </a:r>
            <a:endParaRPr lang="ko-KR" altLang="en-US"/>
          </a:p>
        </p:txBody>
      </p:sp>
      <p:sp>
        <p:nvSpPr>
          <p:cNvPr id="4" name="Slide Number Placeholder 3"/>
          <p:cNvSpPr>
            <a:spLocks noGrp="1"/>
          </p:cNvSpPr>
          <p:nvPr>
            <p:ph type="sldNum" idx="5"/>
          </p:nvPr>
        </p:nvSpPr>
        <p:spPr/>
        <p:txBody>
          <a:bodyPr/>
          <a:lstStyle/>
          <a:p/>
        </p:txBody>
      </p:sp>
    </p:spTree>
    <p:extLst>
      <p:ext uri="{BB962C8B-B14F-4D97-AF65-F5344CB8AC3E}">
        <p14:creationId xmlns:p14="http://schemas.microsoft.com/office/powerpoint/2010/main" val="2855774416"/>
      </p:ext>
    </p:extLst>
  </p:cSld>
  <p:clrMapOvr>
    <a:masterClrMapping/>
  </p:clrMapOvr>
</p:notes>
</file>

<file path=ppt/slideLayouts/_rels/slideLayout1.xml.rels><?xml version="1.0" encoding="UTF-8" standalone="yes" ?><Relationships xmlns="http://schemas.openxmlformats.org/package/2006/relationships"><Relationship Id="Rb9ffb14c5f884314" Type="http://schemas.openxmlformats.org/officeDocument/2006/relationships/slideMaster" Target="../slideMasters/slideMaster1.xml"  /></Relationships>
</file>

<file path=ppt/slideLayouts/slideLayout1.xml><?xml version="1.0" encoding="utf-8"?>
<p:sldLayout xmlns:p="http://schemas.openxmlformats.org/presentationml/2006/main" type="title" preserve="1">
  <p:cSld name="Master">
    <p:spTree>
      <p:nvGrpSpPr>
        <p:cNvPr id="1" name=""/>
        <p:cNvGrpSpPr/>
        <p:nvPr/>
      </p:nvGrpSpPr>
      <p:grpSpPr>
        <a:xfrm xmlns:a="http://schemas.openxmlformats.org/drawingml/2006/main"/>
      </p:grpSpPr>
      <p:sp>
        <p:nvSpPr>
          <p:cNvPr id="7" name="PlaceHolder 1">
            <a:extLst xmlns:a="http://schemas.openxmlformats.org/drawingml/2006/main">
              <a:ext uri="{FF2B5EF4-FFF2-40B4-BE49-F238E27FC236}">
                <a16:creationId xmlns:a16="http://schemas.microsoft.com/office/drawing/2014/main" id="{ABDBB19A-2F89-4F0E-97EA-6885B7104537}"/>
              </a:ext>
            </a:extLst>
          </p:cNvPr>
          <p:cNvSpPr>
            <a:spLocks xmlns:a="http://schemas.openxmlformats.org/drawingml/2006/main" noGrp="1"/>
          </p:cNvSpPr>
          <p:nvPr>
            <p:ph type="title" idx="0"/>
          </p:nvPr>
        </p:nvSpPr>
        <p:spPr>
          <a:xfrm xmlns:a="http://schemas.openxmlformats.org/drawingml/2006/main">
            <a:off x="3027600" y="16170480"/>
            <a:ext cx="24220440" cy="6182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lgn="l">
              <a:lnSpc>
                <a:spcPct val="90000"/>
              </a:lnSpc>
              <a:buNone/>
            </a:pPr>
            <a:endParaRPr sz="4400" b="0" u="none" strike="noStrike">
              <a:solidFill>
                <a:schemeClr val="dk1"/>
              </a:solidFill>
              <a:latin typeface="Aptos"/>
              <a:ea typeface="Aptos"/>
              <a:cs typeface="Aptos"/>
            </a:endParaRPr>
          </a:p>
        </p:txBody>
      </p:sp>
      <p:sp>
        <p:nvSpPr>
          <p:cNvPr id="8" name="PlaceHolder 2">
            <a:extLst xmlns:a="http://schemas.openxmlformats.org/drawingml/2006/main">
              <a:ext uri="{FF2B5EF4-FFF2-40B4-BE49-F238E27FC236}">
                <a16:creationId xmlns:a16="http://schemas.microsoft.com/office/drawing/2014/main" id="{1443B662-EA64-4A54-9D7D-D0F848E10C1C}"/>
              </a:ext>
            </a:extLst>
          </p:cNvPr>
          <p:cNvSpPr>
            <a:spLocks xmlns:a="http://schemas.openxmlformats.org/drawingml/2006/main" noGrp="1"/>
          </p:cNvSpPr>
          <p:nvPr>
            <p:ph type="subTitle" idx="0"/>
          </p:nvPr>
        </p:nvSpPr>
        <p:spPr>
          <a:xfrm xmlns:a="http://schemas.openxmlformats.org/drawingml/2006/main">
            <a:off x="4541400" y="23542200"/>
            <a:ext cx="21192840" cy="47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lgn="ctr">
              <a:buNone/>
            </a:pPr>
            <a:endParaRPr sz="3200" b="0" u="none" strike="noStrike">
              <a:solidFill>
                <a:srgbClr val="000000"/>
              </a:solidFill>
              <a:latin typeface="Arial"/>
              <a:ea typeface="Arial"/>
              <a:cs typeface="Arial"/>
            </a:endParaRPr>
          </a:p>
        </p:txBody>
      </p:sp>
    </p:spTree>
  </p:cSld>
</p:sldLayout>
</file>

<file path=ppt/slideMasters/_rels/slideMaster1.xml.rels><?xml version="1.0" encoding="UTF-8" standalone="yes" ?><Relationships xmlns="http://schemas.openxmlformats.org/package/2006/relationships"><Relationship Id="Ra4ecd04906c2491d" Type="http://schemas.openxmlformats.org/officeDocument/2006/relationships/slideLayout" Target="../slideLayouts/slideLayout1.xml"  /><Relationship Id="Rb3f88e079dc44d0e" Type="http://schemas.openxmlformats.org/officeDocument/2006/relationships/theme" Target="../theme/theme1.xml"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a4ecd04906c2491d"/>
  </p:sldLayoutIdLst>
</p:sldMaster>
</file>

<file path=ppt/slides/_rels/slide1.xml.rels><?xml version="1.0" encoding="UTF-8" standalone="yes" ?><Relationships xmlns="http://schemas.openxmlformats.org/package/2006/relationships"><Relationship Id="rId1" Type="http://schemas.openxmlformats.org/officeDocument/2006/relationships/notesSlide" Target="../notesSlides/notesSlide1.xml"  /><Relationship Id="rId2"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22" name=""/>
          <p:cNvSpPr>
            <a:spLocks noGrp="1"/>
          </p:cNvSpPr>
          <p:nvPr/>
        </p:nvSpPr>
        <p:spPr>
          <a:xfrm>
            <a:off x="1238400" y="1047600"/>
            <a:ext cx="27622080" cy="618840"/>
          </a:xfrm>
          <a:prstGeom prst="rect">
            <a:avLst/>
          </a:prstGeom>
          <a:noFill/>
          <a:ln w="0">
            <a:noFill/>
          </a:ln>
        </p:spPr>
        <p:txBody>
          <a:bodyPr lIns="90000" tIns="45000" rIns="90000" bIns="45000" anchor="t">
            <a:noAutofit/>
          </a:bodyPr>
          <a:lstStyle/>
          <a:p>
            <a:pPr>
              <a:lnSpc>
                <a:spcPct val="100000"/>
              </a:lnSpc>
              <a:buNone/>
              <a:defRPr/>
            </a:pPr>
            <a:r>
              <a:rPr sz="3150" b="1" u="none" strike="noStrike">
                <a:solidFill>
                  <a:srgbClr val="003876"/>
                </a:solidFill>
              </a:rPr>
              <a:t>Qiskit Fall Fest @SNU 2026 · IDEATHON</a:t>
            </a:r>
            <a:endParaRPr sz="3150" b="0" u="none" strike="noStrike">
              <a:solidFill>
                <a:srgbClr val="000000"/>
              </a:solidFill>
            </a:endParaRPr>
          </a:p>
        </p:txBody>
      </p:sp>
      <p:sp>
        <p:nvSpPr>
          <p:cNvPr id="23" name=""/>
          <p:cNvSpPr>
            <a:spLocks noGrp="1"/>
          </p:cNvSpPr>
          <p:nvPr/>
        </p:nvSpPr>
        <p:spPr>
          <a:xfrm>
            <a:off x="1238400" y="2048040"/>
            <a:ext cx="27622080" cy="1476000"/>
          </a:xfrm>
          <a:prstGeom prst="rect">
            <a:avLst/>
          </a:prstGeom>
          <a:noFill/>
          <a:ln w="0">
            <a:noFill/>
          </a:ln>
        </p:spPr>
        <p:txBody>
          <a:bodyPr lIns="90000" tIns="45000" rIns="90000" bIns="45000" anchor="t">
            <a:noAutofit/>
          </a:bodyPr>
          <a:lstStyle/>
          <a:p>
            <a:pPr>
              <a:lnSpc>
                <a:spcPct val="100000"/>
              </a:lnSpc>
              <a:buNone/>
              <a:defRPr/>
            </a:pPr>
            <a:r>
              <a:rPr sz="8400" b="1" u="none" strike="noStrike">
                <a:solidFill>
                  <a:srgbClr val="003876"/>
                </a:solidFill>
              </a:rPr>
              <a:t>아이디어명</a:t>
            </a:r>
            <a:endParaRPr sz="8400" b="0" u="none" strike="noStrike">
              <a:solidFill>
                <a:srgbClr val="000000"/>
              </a:solidFill>
            </a:endParaRPr>
          </a:p>
        </p:txBody>
      </p:sp>
      <p:sp>
        <p:nvSpPr>
          <p:cNvPr id="24" name=""/>
          <p:cNvSpPr>
            <a:spLocks noGrp="1"/>
          </p:cNvSpPr>
          <p:nvPr/>
        </p:nvSpPr>
        <p:spPr>
          <a:xfrm>
            <a:off x="1238400" y="3905280"/>
            <a:ext cx="27622080" cy="856800"/>
          </a:xfrm>
          <a:prstGeom prst="rect">
            <a:avLst/>
          </a:prstGeom>
          <a:noFill/>
          <a:ln w="0">
            <a:noFill/>
          </a:ln>
        </p:spPr>
        <p:txBody>
          <a:bodyPr lIns="90000" tIns="45000" rIns="90000" bIns="45000" anchor="t">
            <a:noAutofit/>
          </a:bodyPr>
          <a:lstStyle/>
          <a:p>
            <a:pPr>
              <a:lnSpc>
                <a:spcPct val="100000"/>
              </a:lnSpc>
              <a:buNone/>
              <a:defRPr/>
            </a:pPr>
            <a:r>
              <a:rPr sz="4270" b="0" u="none" strike="noStrike">
                <a:solidFill>
                  <a:srgbClr val="6a7c8d"/>
                </a:solidFill>
              </a:rPr>
              <a:t>[서비스나 경험을 소개하는 한 문장]</a:t>
            </a:r>
            <a:endParaRPr sz="4270" b="0" u="none" strike="noStrike">
              <a:solidFill>
                <a:srgbClr val="000000"/>
              </a:solidFill>
            </a:endParaRPr>
          </a:p>
        </p:txBody>
      </p:sp>
      <p:sp>
        <p:nvSpPr>
          <p:cNvPr id="25" name=""/>
          <p:cNvSpPr>
            <a:spLocks noGrp="1"/>
          </p:cNvSpPr>
          <p:nvPr/>
        </p:nvSpPr>
        <p:spPr>
          <a:xfrm>
            <a:off x="1238400" y="5238720"/>
            <a:ext cx="27622080" cy="713880"/>
          </a:xfrm>
          <a:prstGeom prst="rect">
            <a:avLst/>
          </a:prstGeom>
          <a:noFill/>
          <a:ln w="0">
            <a:noFill/>
          </a:ln>
        </p:spPr>
        <p:txBody>
          <a:bodyPr lIns="90000" tIns="45000" rIns="90000" bIns="45000" anchor="t">
            <a:noAutofit/>
          </a:bodyPr>
          <a:lstStyle/>
          <a:p>
            <a:pPr>
              <a:lnSpc>
                <a:spcPct val="100000"/>
              </a:lnSpc>
              <a:buNone/>
              <a:defRPr/>
            </a:pPr>
            <a:r>
              <a:rPr sz="3300" b="0" u="none" strike="noStrike">
                <a:solidFill>
                  <a:srgbClr val="003876"/>
                </a:solidFill>
              </a:rPr>
              <a:t>팀명 [          ]    팀원 [                                   ]</a:t>
            </a:r>
            <a:endParaRPr sz="3300" b="0" u="none" strike="noStrike">
              <a:solidFill>
                <a:srgbClr val="000000"/>
              </a:solidFill>
            </a:endParaRPr>
          </a:p>
        </p:txBody>
      </p:sp>
      <p:sp>
        <p:nvSpPr>
          <p:cNvPr id="26" name=""/>
          <p:cNvSpPr>
            <a:spLocks noGrp="1"/>
          </p:cNvSpPr>
          <p:nvPr/>
        </p:nvSpPr>
        <p:spPr>
          <a:xfrm>
            <a:off x="1238400" y="7524720"/>
            <a:ext cx="27799200" cy="3857400"/>
          </a:xfrm>
          <a:prstGeom prst="rect">
            <a:avLst/>
          </a:prstGeom>
          <a:solidFill>
            <a:schemeClr val="l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rgbClr val="000000"/>
              </a:solidFill>
            </a:endParaRPr>
          </a:p>
        </p:txBody>
      </p:sp>
      <p:sp>
        <p:nvSpPr>
          <p:cNvPr id="27" name=""/>
          <p:cNvSpPr>
            <a:spLocks noGrp="1"/>
          </p:cNvSpPr>
          <p:nvPr/>
        </p:nvSpPr>
        <p:spPr>
          <a:xfrm>
            <a:off x="1238400" y="7524720"/>
            <a:ext cx="27799200" cy="1047240"/>
          </a:xfrm>
          <a:prstGeom prst="rect">
            <a:avLst/>
          </a:prstGeom>
          <a:solidFill>
            <a:schemeClr val="accen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chemeClr val="lt1"/>
              </a:solidFill>
            </a:endParaRPr>
          </a:p>
        </p:txBody>
      </p:sp>
      <p:sp>
        <p:nvSpPr>
          <p:cNvPr id="28" name=""/>
          <p:cNvSpPr>
            <a:spLocks noGrp="1"/>
          </p:cNvSpPr>
          <p:nvPr/>
        </p:nvSpPr>
        <p:spPr>
          <a:xfrm>
            <a:off x="1523880" y="7753320"/>
            <a:ext cx="27227520" cy="723600"/>
          </a:xfrm>
          <a:prstGeom prst="rect">
            <a:avLst/>
          </a:prstGeom>
          <a:noFill/>
          <a:ln w="0">
            <a:noFill/>
          </a:ln>
        </p:spPr>
        <p:txBody>
          <a:bodyPr lIns="90000" tIns="45000" rIns="90000" bIns="45000" anchor="t">
            <a:noAutofit/>
          </a:bodyPr>
          <a:lstStyle/>
          <a:p>
            <a:pPr>
              <a:lnSpc>
                <a:spcPct val="100000"/>
              </a:lnSpc>
              <a:buNone/>
              <a:defRPr/>
            </a:pPr>
            <a:r>
              <a:rPr sz="3820" b="1" u="none" strike="noStrike">
                <a:solidFill>
                  <a:schemeClr val="lt1"/>
                </a:solidFill>
              </a:rPr>
              <a:t>01  문제 상황과 전제</a:t>
            </a:r>
            <a:endParaRPr sz="3820" b="0" u="none" strike="noStrike">
              <a:solidFill>
                <a:schemeClr val="lt1"/>
              </a:solidFill>
            </a:endParaRPr>
          </a:p>
        </p:txBody>
      </p:sp>
      <p:sp>
        <p:nvSpPr>
          <p:cNvPr id="29" name=""/>
          <p:cNvSpPr>
            <a:spLocks noGrp="1"/>
          </p:cNvSpPr>
          <p:nvPr/>
        </p:nvSpPr>
        <p:spPr>
          <a:xfrm>
            <a:off x="1571760" y="8886960"/>
            <a:ext cx="27132480" cy="2219040"/>
          </a:xfrm>
          <a:prstGeom prst="rect">
            <a:avLst/>
          </a:prstGeom>
          <a:noFill/>
          <a:ln w="0">
            <a:noFill/>
          </a:ln>
        </p:spPr>
        <p:txBody>
          <a:bodyPr lIns="90000" tIns="45000" rIns="90000" bIns="45000" anchor="t">
            <a:noAutofit/>
          </a:bodyPr>
          <a:lstStyle/>
          <a:p>
            <a:pPr>
              <a:lnSpc>
                <a:spcPct val="100000"/>
              </a:lnSpc>
              <a:buNone/>
              <a:defRPr/>
            </a:pPr>
            <a:r>
              <a:rPr sz="2930" b="0" u="none" strike="noStrike">
                <a:solidFill>
                  <a:srgbClr val="6a7c8d"/>
                </a:solidFill>
              </a:rPr>
              <a:t>[어떤 상황을 다루나요?]</a:t>
            </a:r>
            <a:endParaRPr sz="2930" b="0" u="none" strike="noStrike">
              <a:solidFill>
                <a:srgbClr val="6a7c8d"/>
              </a:solidFill>
            </a:endParaRPr>
          </a:p>
          <a:p>
            <a:pPr>
              <a:lnSpc>
                <a:spcPct val="100000"/>
              </a:lnSpc>
              <a:buNone/>
              <a:defRPr/>
            </a:pPr>
            <a:endParaRPr sz="2930" b="0" u="none" strike="noStrike">
              <a:solidFill>
                <a:srgbClr val="6a7c8d"/>
              </a:solidFill>
            </a:endParaRPr>
          </a:p>
          <a:p>
            <a:pPr>
              <a:lnSpc>
                <a:spcPct val="100000"/>
              </a:lnSpc>
              <a:buNone/>
              <a:defRPr/>
            </a:pPr>
            <a:r>
              <a:rPr sz="2930" b="0" u="none" strike="noStrike">
                <a:solidFill>
                  <a:srgbClr val="6a7c8d"/>
                </a:solidFill>
              </a:rPr>
              <a:t>[미래</a:t>
            </a:r>
            <a:r>
              <a:rPr lang="ko-KR" altLang="en-US" sz="2930" b="0" u="none" strike="noStrike">
                <a:solidFill>
                  <a:srgbClr val="6a7c8d"/>
                </a:solidFill>
              </a:rPr>
              <a:t> 상황을 가정한다면</a:t>
            </a:r>
            <a:r>
              <a:rPr sz="2930" b="0" u="none" strike="noStrike">
                <a:solidFill>
                  <a:srgbClr val="6a7c8d"/>
                </a:solidFill>
              </a:rPr>
              <a:t> 양자컴퓨팅의 수준과 상황</a:t>
            </a:r>
            <a:r>
              <a:rPr lang="ko-KR" altLang="en-US" sz="2930" b="0" u="none" strike="noStrike">
                <a:solidFill>
                  <a:srgbClr val="6a7c8d"/>
                </a:solidFill>
              </a:rPr>
              <a:t>에 대한 가정을 충분히</a:t>
            </a:r>
            <a:r>
              <a:rPr sz="2930" b="0" u="none" strike="noStrike">
                <a:solidFill>
                  <a:srgbClr val="6a7c8d"/>
                </a:solidFill>
              </a:rPr>
              <a:t> 밝혀주세요.]</a:t>
            </a:r>
            <a:endParaRPr sz="2930" b="0" u="none" strike="noStrike">
              <a:solidFill>
                <a:srgbClr val="6a7c8d"/>
              </a:solidFill>
            </a:endParaRPr>
          </a:p>
        </p:txBody>
      </p:sp>
      <p:sp>
        <p:nvSpPr>
          <p:cNvPr id="30" name=""/>
          <p:cNvSpPr>
            <a:spLocks noGrp="1"/>
          </p:cNvSpPr>
          <p:nvPr/>
        </p:nvSpPr>
        <p:spPr>
          <a:xfrm>
            <a:off x="1238400" y="11810880"/>
            <a:ext cx="13670640" cy="4857480"/>
          </a:xfrm>
          <a:prstGeom prst="rect">
            <a:avLst/>
          </a:prstGeom>
          <a:solidFill>
            <a:schemeClr val="l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rgbClr val="000000"/>
              </a:solidFill>
            </a:endParaRPr>
          </a:p>
        </p:txBody>
      </p:sp>
      <p:sp>
        <p:nvSpPr>
          <p:cNvPr id="31" name=""/>
          <p:cNvSpPr>
            <a:spLocks noGrp="1"/>
          </p:cNvSpPr>
          <p:nvPr/>
        </p:nvSpPr>
        <p:spPr>
          <a:xfrm>
            <a:off x="1238400" y="11810880"/>
            <a:ext cx="13670640" cy="1047240"/>
          </a:xfrm>
          <a:prstGeom prst="rect">
            <a:avLst/>
          </a:prstGeom>
          <a:solidFill>
            <a:schemeClr val="accen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chemeClr val="lt1"/>
              </a:solidFill>
            </a:endParaRPr>
          </a:p>
        </p:txBody>
      </p:sp>
      <p:sp>
        <p:nvSpPr>
          <p:cNvPr id="32" name=""/>
          <p:cNvSpPr>
            <a:spLocks noGrp="1"/>
          </p:cNvSpPr>
          <p:nvPr/>
        </p:nvSpPr>
        <p:spPr>
          <a:xfrm>
            <a:off x="1523880" y="12039480"/>
            <a:ext cx="13099320" cy="723600"/>
          </a:xfrm>
          <a:prstGeom prst="rect">
            <a:avLst/>
          </a:prstGeom>
          <a:noFill/>
          <a:ln w="0">
            <a:noFill/>
          </a:ln>
        </p:spPr>
        <p:txBody>
          <a:bodyPr lIns="90000" tIns="45000" rIns="90000" bIns="45000" anchor="t">
            <a:noAutofit/>
          </a:bodyPr>
          <a:lstStyle/>
          <a:p>
            <a:pPr>
              <a:lnSpc>
                <a:spcPct val="100000"/>
              </a:lnSpc>
              <a:buNone/>
              <a:defRPr/>
            </a:pPr>
            <a:r>
              <a:rPr sz="3820" b="1" u="none" strike="noStrike">
                <a:solidFill>
                  <a:schemeClr val="lt1"/>
                </a:solidFill>
              </a:rPr>
              <a:t>02  해결할 문제</a:t>
            </a:r>
            <a:endParaRPr sz="3820" b="0" u="none" strike="noStrike">
              <a:solidFill>
                <a:schemeClr val="lt1"/>
              </a:solidFill>
            </a:endParaRPr>
          </a:p>
        </p:txBody>
      </p:sp>
      <p:sp>
        <p:nvSpPr>
          <p:cNvPr id="33" name=""/>
          <p:cNvSpPr>
            <a:spLocks noGrp="1"/>
          </p:cNvSpPr>
          <p:nvPr/>
        </p:nvSpPr>
        <p:spPr>
          <a:xfrm>
            <a:off x="1571760" y="13173120"/>
            <a:ext cx="13003920" cy="3219120"/>
          </a:xfrm>
          <a:prstGeom prst="rect">
            <a:avLst/>
          </a:prstGeom>
          <a:noFill/>
          <a:ln w="0">
            <a:noFill/>
          </a:ln>
        </p:spPr>
        <p:txBody>
          <a:bodyPr lIns="90000" tIns="45000" rIns="90000" bIns="45000" anchor="t">
            <a:noAutofit/>
          </a:bodyPr>
          <a:lstStyle/>
          <a:p>
            <a:pPr>
              <a:lnSpc>
                <a:spcPct val="100000"/>
              </a:lnSpc>
              <a:buNone/>
              <a:defRPr/>
            </a:pPr>
            <a:r>
              <a:rPr sz="2930" b="0" u="none" strike="noStrike">
                <a:solidFill>
                  <a:srgbClr val="6a7c8d"/>
                </a:solidFill>
              </a:rPr>
              <a:t>[무엇이 문제인가요? 누구에게 어떤 불편·손실·수요가 있나요?]</a:t>
            </a:r>
            <a:endParaRPr sz="2930" b="0" u="none" strike="noStrike">
              <a:solidFill>
                <a:srgbClr val="6a7c8d"/>
              </a:solidFill>
            </a:endParaRPr>
          </a:p>
          <a:p>
            <a:pPr>
              <a:lnSpc>
                <a:spcPct val="100000"/>
              </a:lnSpc>
              <a:buNone/>
              <a:defRPr/>
            </a:pPr>
            <a:endParaRPr sz="2930" b="0" u="none" strike="noStrike">
              <a:solidFill>
                <a:srgbClr val="6a7c8d"/>
              </a:solidFill>
            </a:endParaRPr>
          </a:p>
          <a:p>
            <a:pPr>
              <a:lnSpc>
                <a:spcPct val="100000"/>
              </a:lnSpc>
              <a:buNone/>
              <a:defRPr/>
            </a:pPr>
            <a:r>
              <a:rPr sz="2930" b="0" u="none" strike="noStrike">
                <a:solidFill>
                  <a:srgbClr val="6a7c8d"/>
                </a:solidFill>
              </a:rPr>
              <a:t>[현재 대안은 무엇이고 무엇이 해결되지 않나요?]</a:t>
            </a:r>
            <a:endParaRPr sz="2930" b="0" u="none" strike="noStrike">
              <a:solidFill>
                <a:srgbClr val="6a7c8d"/>
              </a:solidFill>
            </a:endParaRPr>
          </a:p>
        </p:txBody>
      </p:sp>
      <p:sp>
        <p:nvSpPr>
          <p:cNvPr id="34" name=""/>
          <p:cNvSpPr>
            <a:spLocks noGrp="1"/>
          </p:cNvSpPr>
          <p:nvPr/>
        </p:nvSpPr>
        <p:spPr>
          <a:xfrm>
            <a:off x="15366600" y="11810880"/>
            <a:ext cx="13670640" cy="4857480"/>
          </a:xfrm>
          <a:prstGeom prst="rect">
            <a:avLst/>
          </a:prstGeom>
          <a:solidFill>
            <a:schemeClr val="l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rgbClr val="000000"/>
              </a:solidFill>
            </a:endParaRPr>
          </a:p>
        </p:txBody>
      </p:sp>
      <p:sp>
        <p:nvSpPr>
          <p:cNvPr id="35" name=""/>
          <p:cNvSpPr>
            <a:spLocks noGrp="1"/>
          </p:cNvSpPr>
          <p:nvPr/>
        </p:nvSpPr>
        <p:spPr>
          <a:xfrm>
            <a:off x="15366600" y="11810880"/>
            <a:ext cx="13670640" cy="1047240"/>
          </a:xfrm>
          <a:prstGeom prst="rect">
            <a:avLst/>
          </a:prstGeom>
          <a:solidFill>
            <a:schemeClr val="accen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rgbClr val="000000"/>
              </a:solidFill>
            </a:endParaRPr>
          </a:p>
        </p:txBody>
      </p:sp>
      <p:sp>
        <p:nvSpPr>
          <p:cNvPr id="36" name=""/>
          <p:cNvSpPr>
            <a:spLocks noGrp="1"/>
          </p:cNvSpPr>
          <p:nvPr/>
        </p:nvSpPr>
        <p:spPr>
          <a:xfrm>
            <a:off x="15652440" y="12039480"/>
            <a:ext cx="13099320" cy="723600"/>
          </a:xfrm>
          <a:prstGeom prst="rect">
            <a:avLst/>
          </a:prstGeom>
          <a:noFill/>
          <a:ln w="0">
            <a:noFill/>
          </a:ln>
        </p:spPr>
        <p:txBody>
          <a:bodyPr lIns="90000" tIns="45000" rIns="90000" bIns="45000" anchor="t">
            <a:noAutofit/>
          </a:bodyPr>
          <a:lstStyle/>
          <a:p>
            <a:pPr>
              <a:lnSpc>
                <a:spcPct val="100000"/>
              </a:lnSpc>
              <a:buNone/>
              <a:defRPr/>
            </a:pPr>
            <a:r>
              <a:rPr sz="3820" b="1" u="none" strike="noStrike">
                <a:solidFill>
                  <a:schemeClr val="lt1"/>
                </a:solidFill>
              </a:rPr>
              <a:t>03  사용자와 핵심 수요</a:t>
            </a:r>
            <a:endParaRPr sz="3820" b="0" u="none" strike="noStrike">
              <a:solidFill>
                <a:schemeClr val="lt1"/>
              </a:solidFill>
            </a:endParaRPr>
          </a:p>
        </p:txBody>
      </p:sp>
      <p:sp>
        <p:nvSpPr>
          <p:cNvPr id="37" name=""/>
          <p:cNvSpPr>
            <a:spLocks noGrp="1"/>
          </p:cNvSpPr>
          <p:nvPr/>
        </p:nvSpPr>
        <p:spPr>
          <a:xfrm>
            <a:off x="15699960" y="13173120"/>
            <a:ext cx="13003920" cy="3219120"/>
          </a:xfrm>
          <a:prstGeom prst="rect">
            <a:avLst/>
          </a:prstGeom>
          <a:noFill/>
          <a:ln w="0">
            <a:noFill/>
          </a:ln>
        </p:spPr>
        <p:txBody>
          <a:bodyPr lIns="90000" tIns="45000" rIns="90000" bIns="45000" anchor="t">
            <a:noAutofit/>
          </a:bodyPr>
          <a:lstStyle/>
          <a:p>
            <a:pPr>
              <a:lnSpc>
                <a:spcPct val="100000"/>
              </a:lnSpc>
              <a:buNone/>
              <a:defRPr/>
            </a:pPr>
            <a:r>
              <a:rPr sz="2930" b="0" u="none" strike="noStrike">
                <a:solidFill>
                  <a:srgbClr val="6a7c8d"/>
                </a:solidFill>
              </a:rPr>
              <a:t>[누가 직접 사용하고 누가 혜택을 받나요?]</a:t>
            </a:r>
            <a:endParaRPr sz="2930" b="0" u="none" strike="noStrike">
              <a:solidFill>
                <a:srgbClr val="6a7c8d"/>
              </a:solidFill>
            </a:endParaRPr>
          </a:p>
          <a:p>
            <a:pPr>
              <a:lnSpc>
                <a:spcPct val="100000"/>
              </a:lnSpc>
              <a:buNone/>
              <a:defRPr/>
            </a:pPr>
            <a:endParaRPr sz="2930" b="0" u="none" strike="noStrike">
              <a:solidFill>
                <a:srgbClr val="6a7c8d"/>
              </a:solidFill>
            </a:endParaRPr>
          </a:p>
          <a:p>
            <a:pPr>
              <a:lnSpc>
                <a:spcPct val="100000"/>
              </a:lnSpc>
              <a:buNone/>
              <a:defRPr/>
            </a:pPr>
            <a:r>
              <a:rPr sz="2930" b="0" u="none" strike="noStrike">
                <a:solidFill>
                  <a:srgbClr val="6a7c8d"/>
                </a:solidFill>
              </a:rPr>
              <a:t>[언제, 왜 필요한가요? 수요의 근거는 무엇인가요?]</a:t>
            </a:r>
            <a:endParaRPr sz="2930" b="0" u="none" strike="noStrike">
              <a:solidFill>
                <a:srgbClr val="6a7c8d"/>
              </a:solidFill>
            </a:endParaRPr>
          </a:p>
        </p:txBody>
      </p:sp>
      <p:sp>
        <p:nvSpPr>
          <p:cNvPr id="38" name=""/>
          <p:cNvSpPr>
            <a:spLocks noGrp="1"/>
          </p:cNvSpPr>
          <p:nvPr/>
        </p:nvSpPr>
        <p:spPr>
          <a:xfrm>
            <a:off x="1238400" y="17097480"/>
            <a:ext cx="13670640" cy="9810360"/>
          </a:xfrm>
          <a:prstGeom prst="rect">
            <a:avLst/>
          </a:prstGeom>
          <a:solidFill>
            <a:schemeClr val="l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rgbClr val="000000"/>
              </a:solidFill>
            </a:endParaRPr>
          </a:p>
        </p:txBody>
      </p:sp>
      <p:sp>
        <p:nvSpPr>
          <p:cNvPr id="39" name=""/>
          <p:cNvSpPr>
            <a:spLocks noGrp="1"/>
          </p:cNvSpPr>
          <p:nvPr/>
        </p:nvSpPr>
        <p:spPr>
          <a:xfrm>
            <a:off x="1238400" y="17097480"/>
            <a:ext cx="13670640" cy="1047240"/>
          </a:xfrm>
          <a:prstGeom prst="rect">
            <a:avLst/>
          </a:prstGeom>
          <a:solidFill>
            <a:schemeClr val="accen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rgbClr val="000000"/>
              </a:solidFill>
            </a:endParaRPr>
          </a:p>
        </p:txBody>
      </p:sp>
      <p:sp>
        <p:nvSpPr>
          <p:cNvPr id="40" name=""/>
          <p:cNvSpPr>
            <a:spLocks noGrp="1"/>
          </p:cNvSpPr>
          <p:nvPr/>
        </p:nvSpPr>
        <p:spPr>
          <a:xfrm>
            <a:off x="1523880" y="17326080"/>
            <a:ext cx="13099320" cy="723600"/>
          </a:xfrm>
          <a:prstGeom prst="rect">
            <a:avLst/>
          </a:prstGeom>
          <a:noFill/>
          <a:ln w="0">
            <a:noFill/>
          </a:ln>
        </p:spPr>
        <p:txBody>
          <a:bodyPr lIns="90000" tIns="45000" rIns="90000" bIns="45000" anchor="t">
            <a:noAutofit/>
          </a:bodyPr>
          <a:lstStyle/>
          <a:p>
            <a:pPr>
              <a:lnSpc>
                <a:spcPct val="100000"/>
              </a:lnSpc>
              <a:buNone/>
              <a:defRPr/>
            </a:pPr>
            <a:r>
              <a:rPr sz="3820" b="1" u="none" strike="noStrike">
                <a:solidFill>
                  <a:schemeClr val="lt1"/>
                </a:solidFill>
              </a:rPr>
              <a:t>04  제안하는 서비스·경험</a:t>
            </a:r>
            <a:endParaRPr sz="3820" b="0" u="none" strike="noStrike">
              <a:solidFill>
                <a:schemeClr val="lt1"/>
              </a:solidFill>
            </a:endParaRPr>
          </a:p>
        </p:txBody>
      </p:sp>
      <p:sp>
        <p:nvSpPr>
          <p:cNvPr id="41" name=""/>
          <p:cNvSpPr>
            <a:spLocks noGrp="1"/>
          </p:cNvSpPr>
          <p:nvPr/>
        </p:nvSpPr>
        <p:spPr>
          <a:xfrm>
            <a:off x="1571760" y="18459360"/>
            <a:ext cx="13003920" cy="8172000"/>
          </a:xfrm>
          <a:prstGeom prst="rect">
            <a:avLst/>
          </a:prstGeom>
          <a:noFill/>
          <a:ln w="0">
            <a:noFill/>
          </a:ln>
        </p:spPr>
        <p:txBody>
          <a:bodyPr lIns="90000" tIns="45000" rIns="90000" bIns="45000" anchor="t">
            <a:noAutofit/>
          </a:bodyPr>
          <a:lstStyle/>
          <a:p>
            <a:pPr>
              <a:lnSpc>
                <a:spcPct val="100000"/>
              </a:lnSpc>
              <a:buNone/>
              <a:defRPr/>
            </a:pPr>
            <a:r>
              <a:rPr sz="2930" b="0" u="none" strike="noStrike">
                <a:solidFill>
                  <a:srgbClr val="6a7c8d"/>
                </a:solidFill>
              </a:rPr>
              <a:t>[서비스의 핵심 기능과 이용 상황을 보여주세요.]</a:t>
            </a:r>
            <a:endParaRPr sz="2930" b="0" u="none" strike="noStrike">
              <a:solidFill>
                <a:srgbClr val="6a7c8d"/>
              </a:solidFill>
            </a:endParaRPr>
          </a:p>
          <a:p>
            <a:pPr>
              <a:lnSpc>
                <a:spcPct val="100000"/>
              </a:lnSpc>
              <a:buNone/>
              <a:defRPr/>
            </a:pPr>
            <a:endParaRPr sz="2930" b="0" u="none" strike="noStrike">
              <a:solidFill>
                <a:srgbClr val="6a7c8d"/>
              </a:solidFill>
            </a:endParaRPr>
          </a:p>
          <a:p>
            <a:pPr>
              <a:lnSpc>
                <a:spcPct val="100000"/>
              </a:lnSpc>
              <a:buNone/>
              <a:defRPr/>
            </a:pPr>
            <a:r>
              <a:rPr sz="2930" b="0" u="none" strike="noStrike">
                <a:solidFill>
                  <a:srgbClr val="6a7c8d"/>
                </a:solidFill>
              </a:rPr>
              <a:t>[누가 언제 사용하고, 어떤 결과를 받나요?]</a:t>
            </a:r>
            <a:endParaRPr sz="2930" b="0" u="none" strike="noStrike">
              <a:solidFill>
                <a:srgbClr val="6a7c8d"/>
              </a:solidFill>
            </a:endParaRPr>
          </a:p>
        </p:txBody>
      </p:sp>
      <p:sp>
        <p:nvSpPr>
          <p:cNvPr id="42" name=""/>
          <p:cNvSpPr>
            <a:spLocks noGrp="1"/>
          </p:cNvSpPr>
          <p:nvPr/>
        </p:nvSpPr>
        <p:spPr>
          <a:xfrm>
            <a:off x="15366600" y="17097480"/>
            <a:ext cx="13670640" cy="9810360"/>
          </a:xfrm>
          <a:prstGeom prst="rect">
            <a:avLst/>
          </a:prstGeom>
          <a:solidFill>
            <a:schemeClr val="l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rgbClr val="000000"/>
              </a:solidFill>
            </a:endParaRPr>
          </a:p>
        </p:txBody>
      </p:sp>
      <p:sp>
        <p:nvSpPr>
          <p:cNvPr id="43" name=""/>
          <p:cNvSpPr>
            <a:spLocks noGrp="1"/>
          </p:cNvSpPr>
          <p:nvPr/>
        </p:nvSpPr>
        <p:spPr>
          <a:xfrm>
            <a:off x="15366600" y="17097480"/>
            <a:ext cx="13670640" cy="1047240"/>
          </a:xfrm>
          <a:prstGeom prst="rect">
            <a:avLst/>
          </a:prstGeom>
          <a:solidFill>
            <a:schemeClr val="accen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chemeClr val="lt1"/>
              </a:solidFill>
            </a:endParaRPr>
          </a:p>
        </p:txBody>
      </p:sp>
      <p:sp>
        <p:nvSpPr>
          <p:cNvPr id="44" name=""/>
          <p:cNvSpPr>
            <a:spLocks noGrp="1"/>
          </p:cNvSpPr>
          <p:nvPr/>
        </p:nvSpPr>
        <p:spPr>
          <a:xfrm>
            <a:off x="15652440" y="17326080"/>
            <a:ext cx="13099320" cy="723600"/>
          </a:xfrm>
          <a:prstGeom prst="rect">
            <a:avLst/>
          </a:prstGeom>
          <a:noFill/>
          <a:ln w="0">
            <a:noFill/>
          </a:ln>
        </p:spPr>
        <p:txBody>
          <a:bodyPr lIns="90000" tIns="45000" rIns="90000" bIns="45000" anchor="t">
            <a:noAutofit/>
          </a:bodyPr>
          <a:lstStyle/>
          <a:p>
            <a:pPr>
              <a:lnSpc>
                <a:spcPct val="100000"/>
              </a:lnSpc>
              <a:buNone/>
              <a:defRPr/>
            </a:pPr>
            <a:r>
              <a:rPr sz="3820" b="1" u="none" strike="noStrike">
                <a:solidFill>
                  <a:schemeClr val="lt1"/>
                </a:solidFill>
              </a:rPr>
              <a:t>05  양자기술의 역할</a:t>
            </a:r>
            <a:endParaRPr sz="3820" b="0" u="none" strike="noStrike">
              <a:solidFill>
                <a:schemeClr val="lt1"/>
              </a:solidFill>
            </a:endParaRPr>
          </a:p>
        </p:txBody>
      </p:sp>
      <p:sp>
        <p:nvSpPr>
          <p:cNvPr id="45" name=""/>
          <p:cNvSpPr>
            <a:spLocks noGrp="1"/>
          </p:cNvSpPr>
          <p:nvPr/>
        </p:nvSpPr>
        <p:spPr>
          <a:xfrm>
            <a:off x="15699960" y="18459360"/>
            <a:ext cx="13003920" cy="8172000"/>
          </a:xfrm>
          <a:prstGeom prst="rect">
            <a:avLst/>
          </a:prstGeom>
          <a:noFill/>
          <a:ln w="0">
            <a:noFill/>
          </a:ln>
        </p:spPr>
        <p:txBody>
          <a:bodyPr lIns="90000" tIns="45000" rIns="90000" bIns="45000" anchor="t">
            <a:noAutofit/>
          </a:bodyPr>
          <a:lstStyle/>
          <a:p>
            <a:pPr>
              <a:lnSpc>
                <a:spcPct val="100000"/>
              </a:lnSpc>
              <a:buNone/>
              <a:defRPr/>
            </a:pPr>
            <a:r>
              <a:rPr sz="2930" b="0" u="none" strike="noStrike">
                <a:solidFill>
                  <a:srgbClr val="6a7c8d"/>
                </a:solidFill>
              </a:rPr>
              <a:t>[</a:t>
            </a:r>
            <a:r>
              <a:rPr lang="ko-KR" altLang="en-US" sz="2930" b="0" u="none" strike="noStrike">
                <a:solidFill>
                  <a:srgbClr val="6a7c8d"/>
                </a:solidFill>
              </a:rPr>
              <a:t>어떤 입력 데이터와 조건을 활용하나요?</a:t>
            </a:r>
            <a:r>
              <a:rPr lang="en-US" altLang="ko-KR" sz="2930" b="0" u="none" strike="noStrike">
                <a:solidFill>
                  <a:srgbClr val="6a7c8d"/>
                </a:solidFill>
              </a:rPr>
              <a:t>]</a:t>
            </a:r>
            <a:endParaRPr lang="en-US" altLang="ko-KR" sz="2930" b="0" u="none" strike="noStrike">
              <a:solidFill>
                <a:srgbClr val="6a7c8d"/>
              </a:solidFill>
            </a:endParaRPr>
          </a:p>
          <a:p>
            <a:pPr>
              <a:lnSpc>
                <a:spcPct val="100000"/>
              </a:lnSpc>
              <a:buNone/>
              <a:defRPr/>
            </a:pPr>
            <a:endParaRPr sz="2930" b="0" u="none" strike="noStrike">
              <a:solidFill>
                <a:srgbClr val="6a7c8d"/>
              </a:solidFill>
            </a:endParaRPr>
          </a:p>
          <a:p>
            <a:pPr>
              <a:lnSpc>
                <a:spcPct val="100000"/>
              </a:lnSpc>
              <a:buNone/>
              <a:defRPr/>
            </a:pPr>
            <a:r>
              <a:rPr sz="2930" b="0" u="none" strike="noStrike">
                <a:solidFill>
                  <a:srgbClr val="6a7c8d"/>
                </a:solidFill>
              </a:rPr>
              <a:t>[양자컴퓨팅이 맡는 계산은 무엇인가요?]</a:t>
            </a:r>
            <a:endParaRPr sz="2930" b="0" u="none" strike="noStrike">
              <a:solidFill>
                <a:srgbClr val="6a7c8d"/>
              </a:solidFill>
            </a:endParaRPr>
          </a:p>
          <a:p>
            <a:pPr>
              <a:lnSpc>
                <a:spcPct val="100000"/>
              </a:lnSpc>
              <a:buNone/>
              <a:defRPr/>
            </a:pPr>
            <a:endParaRPr sz="2930" b="0" u="none" strike="noStrike">
              <a:solidFill>
                <a:srgbClr val="6a7c8d"/>
              </a:solidFill>
            </a:endParaRPr>
          </a:p>
          <a:p>
            <a:pPr>
              <a:lnSpc>
                <a:spcPct val="100000"/>
              </a:lnSpc>
              <a:buNone/>
              <a:defRPr/>
            </a:pPr>
            <a:r>
              <a:rPr sz="2930" b="0" u="none" strike="noStrike">
                <a:solidFill>
                  <a:srgbClr val="6a7c8d"/>
                </a:solidFill>
              </a:rPr>
              <a:t>[고전 컴퓨터와 비교해 양자컴퓨터</a:t>
            </a:r>
            <a:r>
              <a:rPr lang="ko-KR" altLang="en-US" sz="2930" b="0" u="none" strike="noStrike">
                <a:solidFill>
                  <a:srgbClr val="6a7c8d"/>
                </a:solidFill>
              </a:rPr>
              <a:t> 쓰는 이유는 무엇인가요</a:t>
            </a:r>
            <a:r>
              <a:rPr sz="2930" b="0" u="none" strike="noStrike">
                <a:solidFill>
                  <a:srgbClr val="6a7c8d"/>
                </a:solidFill>
              </a:rPr>
              <a:t>?]</a:t>
            </a:r>
            <a:endParaRPr sz="2930" b="0" u="none" strike="noStrike">
              <a:solidFill>
                <a:srgbClr val="6a7c8d"/>
              </a:solidFill>
            </a:endParaRPr>
          </a:p>
          <a:p>
            <a:pPr>
              <a:lnSpc>
                <a:spcPct val="100000"/>
              </a:lnSpc>
              <a:buNone/>
              <a:defRPr/>
            </a:pPr>
            <a:endParaRPr sz="2930" b="0" u="none" strike="noStrike">
              <a:solidFill>
                <a:srgbClr val="6a7c8d"/>
              </a:solidFill>
            </a:endParaRPr>
          </a:p>
          <a:p>
            <a:pPr>
              <a:lnSpc>
                <a:spcPct val="100000"/>
              </a:lnSpc>
              <a:buNone/>
              <a:defRPr/>
            </a:pPr>
            <a:r>
              <a:rPr sz="2930" b="0" u="none" strike="noStrike">
                <a:solidFill>
                  <a:srgbClr val="6a7c8d"/>
                </a:solidFill>
              </a:rPr>
              <a:t>[계산 결과를 어디에</a:t>
            </a:r>
            <a:r>
              <a:rPr lang="en-US" altLang="ko-KR" sz="2930" b="0" u="none" strike="noStrike">
                <a:solidFill>
                  <a:srgbClr val="6a7c8d"/>
                </a:solidFill>
              </a:rPr>
              <a:t>,</a:t>
            </a:r>
            <a:r>
              <a:rPr lang="ko-KR" altLang="en-US" sz="2930" b="0" u="none" strike="noStrike">
                <a:solidFill>
                  <a:srgbClr val="6a7c8d"/>
                </a:solidFill>
              </a:rPr>
              <a:t> 어떻게</a:t>
            </a:r>
            <a:r>
              <a:rPr sz="2930" b="0" u="none" strike="noStrike">
                <a:solidFill>
                  <a:srgbClr val="6a7c8d"/>
                </a:solidFill>
              </a:rPr>
              <a:t> 활용하나요?]</a:t>
            </a:r>
            <a:endParaRPr sz="2930" b="0" u="none" strike="noStrike">
              <a:solidFill>
                <a:srgbClr val="6a7c8d"/>
              </a:solidFill>
            </a:endParaRPr>
          </a:p>
          <a:p>
            <a:pPr>
              <a:lnSpc>
                <a:spcPct val="100000"/>
              </a:lnSpc>
              <a:buNone/>
              <a:defRPr/>
            </a:pPr>
            <a:endParaRPr sz="2930" b="0" u="none" strike="noStrike">
              <a:solidFill>
                <a:srgbClr val="6a7c8d"/>
              </a:solidFill>
            </a:endParaRPr>
          </a:p>
          <a:p>
            <a:pPr>
              <a:lnSpc>
                <a:spcPct val="100000"/>
              </a:lnSpc>
              <a:buNone/>
              <a:defRPr/>
            </a:pPr>
            <a:r>
              <a:rPr sz="2930" b="0" u="none" strike="noStrike">
                <a:solidFill>
                  <a:srgbClr val="6a7c8d"/>
                </a:solidFill>
              </a:rPr>
              <a:t>[PoC 결과가 있다면 제시하세요. Python 사용 가능, Qiskit 권장.]</a:t>
            </a:r>
            <a:endParaRPr sz="2930" b="0" u="none" strike="noStrike">
              <a:solidFill>
                <a:srgbClr val="6a7c8d"/>
              </a:solidFill>
            </a:endParaRPr>
          </a:p>
        </p:txBody>
      </p:sp>
      <p:sp>
        <p:nvSpPr>
          <p:cNvPr id="46" name=""/>
          <p:cNvSpPr>
            <a:spLocks noGrp="1"/>
          </p:cNvSpPr>
          <p:nvPr/>
        </p:nvSpPr>
        <p:spPr>
          <a:xfrm>
            <a:off x="1238400" y="27336600"/>
            <a:ext cx="27799200" cy="5810040"/>
          </a:xfrm>
          <a:prstGeom prst="rect">
            <a:avLst/>
          </a:prstGeom>
          <a:solidFill>
            <a:schemeClr val="l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rgbClr val="000000"/>
              </a:solidFill>
            </a:endParaRPr>
          </a:p>
        </p:txBody>
      </p:sp>
      <p:sp>
        <p:nvSpPr>
          <p:cNvPr id="47" name=""/>
          <p:cNvSpPr>
            <a:spLocks noGrp="1"/>
          </p:cNvSpPr>
          <p:nvPr/>
        </p:nvSpPr>
        <p:spPr>
          <a:xfrm>
            <a:off x="1238400" y="27336600"/>
            <a:ext cx="27799200" cy="1047240"/>
          </a:xfrm>
          <a:prstGeom prst="rect">
            <a:avLst/>
          </a:prstGeom>
          <a:solidFill>
            <a:schemeClr val="accen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chemeClr val="lt1"/>
              </a:solidFill>
            </a:endParaRPr>
          </a:p>
        </p:txBody>
      </p:sp>
      <p:sp>
        <p:nvSpPr>
          <p:cNvPr id="48" name=""/>
          <p:cNvSpPr>
            <a:spLocks noGrp="1"/>
          </p:cNvSpPr>
          <p:nvPr/>
        </p:nvSpPr>
        <p:spPr>
          <a:xfrm>
            <a:off x="1523880" y="27565200"/>
            <a:ext cx="27227520" cy="723600"/>
          </a:xfrm>
          <a:prstGeom prst="rect">
            <a:avLst/>
          </a:prstGeom>
          <a:noFill/>
          <a:ln w="0">
            <a:noFill/>
          </a:ln>
        </p:spPr>
        <p:txBody>
          <a:bodyPr lIns="90000" tIns="45000" rIns="90000" bIns="45000" anchor="t">
            <a:noAutofit/>
          </a:bodyPr>
          <a:lstStyle/>
          <a:p>
            <a:pPr>
              <a:lnSpc>
                <a:spcPct val="100000"/>
              </a:lnSpc>
              <a:buNone/>
              <a:defRPr/>
            </a:pPr>
            <a:r>
              <a:rPr sz="3820" b="1" u="none" strike="noStrike">
                <a:solidFill>
                  <a:schemeClr val="lt1"/>
                </a:solidFill>
              </a:rPr>
              <a:t>06  기대 효과</a:t>
            </a:r>
            <a:endParaRPr sz="3820" b="0" u="none" strike="noStrike">
              <a:solidFill>
                <a:schemeClr val="lt1"/>
              </a:solidFill>
            </a:endParaRPr>
          </a:p>
        </p:txBody>
      </p:sp>
      <p:sp>
        <p:nvSpPr>
          <p:cNvPr id="49" name=""/>
          <p:cNvSpPr>
            <a:spLocks noGrp="1"/>
          </p:cNvSpPr>
          <p:nvPr/>
        </p:nvSpPr>
        <p:spPr>
          <a:xfrm>
            <a:off x="1571760" y="28698840"/>
            <a:ext cx="27132480" cy="4171680"/>
          </a:xfrm>
          <a:prstGeom prst="rect">
            <a:avLst/>
          </a:prstGeom>
          <a:noFill/>
          <a:ln w="0">
            <a:noFill/>
          </a:ln>
        </p:spPr>
        <p:txBody>
          <a:bodyPr lIns="90000" tIns="45000" rIns="90000" bIns="45000" anchor="t">
            <a:noAutofit/>
          </a:bodyPr>
          <a:lstStyle/>
          <a:p>
            <a:pPr>
              <a:lnSpc>
                <a:spcPct val="100000"/>
              </a:lnSpc>
              <a:buNone/>
              <a:defRPr/>
            </a:pPr>
            <a:r>
              <a:rPr sz="2930" b="0" u="none" strike="noStrike">
                <a:solidFill>
                  <a:srgbClr val="6a7c8d"/>
                </a:solidFill>
              </a:rPr>
              <a:t>[사용자·사회에 어떤 변화가 생기나요?]</a:t>
            </a:r>
            <a:endParaRPr sz="2930" b="0" u="none" strike="noStrike">
              <a:solidFill>
                <a:srgbClr val="6a7c8d"/>
              </a:solidFill>
            </a:endParaRPr>
          </a:p>
          <a:p>
            <a:pPr>
              <a:lnSpc>
                <a:spcPct val="100000"/>
              </a:lnSpc>
              <a:buNone/>
              <a:defRPr/>
            </a:pPr>
            <a:endParaRPr sz="2930" b="0" u="none" strike="noStrike">
              <a:solidFill>
                <a:srgbClr val="6a7c8d"/>
              </a:solidFill>
            </a:endParaRPr>
          </a:p>
          <a:p>
            <a:pPr>
              <a:lnSpc>
                <a:spcPct val="100000"/>
              </a:lnSpc>
              <a:buNone/>
              <a:defRPr/>
            </a:pPr>
            <a:r>
              <a:rPr sz="2930" b="0" u="none" strike="noStrike">
                <a:solidFill>
                  <a:srgbClr val="6a7c8d"/>
                </a:solidFill>
              </a:rPr>
              <a:t>[현재 방식과 비교해 달라질 점은 무엇인가요?]</a:t>
            </a:r>
            <a:endParaRPr sz="2930" b="0" u="none" strike="noStrike">
              <a:solidFill>
                <a:srgbClr val="6a7c8d"/>
              </a:solidFill>
            </a:endParaRPr>
          </a:p>
          <a:p>
            <a:pPr>
              <a:lnSpc>
                <a:spcPct val="100000"/>
              </a:lnSpc>
              <a:buNone/>
              <a:defRPr/>
            </a:pPr>
            <a:endParaRPr sz="2930" b="0" u="none" strike="noStrike">
              <a:solidFill>
                <a:srgbClr val="6a7c8d"/>
              </a:solidFill>
            </a:endParaRPr>
          </a:p>
          <a:p>
            <a:pPr>
              <a:lnSpc>
                <a:spcPct val="100000"/>
              </a:lnSpc>
              <a:buNone/>
              <a:defRPr/>
            </a:pPr>
            <a:r>
              <a:rPr sz="2930" b="0" u="none" strike="noStrike">
                <a:solidFill>
                  <a:srgbClr val="6a7c8d"/>
                </a:solidFill>
              </a:rPr>
              <a:t>[효과를 어떻게 확인할 수 있나요?]</a:t>
            </a:r>
            <a:endParaRPr sz="2930" b="0" u="none" strike="noStrike">
              <a:solidFill>
                <a:srgbClr val="6a7c8d"/>
              </a:solidFill>
            </a:endParaRPr>
          </a:p>
        </p:txBody>
      </p:sp>
      <p:sp>
        <p:nvSpPr>
          <p:cNvPr id="50" name=""/>
          <p:cNvSpPr>
            <a:spLocks noGrp="1"/>
          </p:cNvSpPr>
          <p:nvPr/>
        </p:nvSpPr>
        <p:spPr>
          <a:xfrm>
            <a:off x="1238400" y="33575760"/>
            <a:ext cx="13670640" cy="6190920"/>
          </a:xfrm>
          <a:prstGeom prst="rect">
            <a:avLst/>
          </a:prstGeom>
          <a:solidFill>
            <a:schemeClr val="l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rgbClr val="000000"/>
              </a:solidFill>
            </a:endParaRPr>
          </a:p>
        </p:txBody>
      </p:sp>
      <p:sp>
        <p:nvSpPr>
          <p:cNvPr id="51" name=""/>
          <p:cNvSpPr>
            <a:spLocks noGrp="1"/>
          </p:cNvSpPr>
          <p:nvPr/>
        </p:nvSpPr>
        <p:spPr>
          <a:xfrm>
            <a:off x="1238400" y="33575760"/>
            <a:ext cx="13670640" cy="1047240"/>
          </a:xfrm>
          <a:prstGeom prst="rect">
            <a:avLst/>
          </a:prstGeom>
          <a:solidFill>
            <a:schemeClr val="accen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chemeClr val="lt1"/>
              </a:solidFill>
            </a:endParaRPr>
          </a:p>
        </p:txBody>
      </p:sp>
      <p:sp>
        <p:nvSpPr>
          <p:cNvPr id="52" name=""/>
          <p:cNvSpPr>
            <a:spLocks noGrp="1"/>
          </p:cNvSpPr>
          <p:nvPr/>
        </p:nvSpPr>
        <p:spPr>
          <a:xfrm>
            <a:off x="1523880" y="33804360"/>
            <a:ext cx="13099320" cy="723600"/>
          </a:xfrm>
          <a:prstGeom prst="rect">
            <a:avLst/>
          </a:prstGeom>
          <a:noFill/>
          <a:ln w="0">
            <a:noFill/>
          </a:ln>
        </p:spPr>
        <p:txBody>
          <a:bodyPr lIns="90000" tIns="45000" rIns="90000" bIns="45000" anchor="t">
            <a:noAutofit/>
          </a:bodyPr>
          <a:lstStyle/>
          <a:p>
            <a:pPr>
              <a:lnSpc>
                <a:spcPct val="100000"/>
              </a:lnSpc>
              <a:buNone/>
              <a:defRPr/>
            </a:pPr>
            <a:r>
              <a:rPr sz="3820" b="1" u="none" strike="noStrike">
                <a:solidFill>
                  <a:schemeClr val="lt1"/>
                </a:solidFill>
              </a:rPr>
              <a:t>07  </a:t>
            </a:r>
            <a:r>
              <a:rPr lang="ko-KR" altLang="en-US" sz="3820" b="1" u="none" strike="noStrike">
                <a:solidFill>
                  <a:schemeClr val="lt1"/>
                </a:solidFill>
              </a:rPr>
              <a:t>사업</a:t>
            </a:r>
            <a:r>
              <a:rPr sz="3820" b="1" u="none" strike="noStrike">
                <a:solidFill>
                  <a:schemeClr val="lt1"/>
                </a:solidFill>
              </a:rPr>
              <a:t> 모델</a:t>
            </a:r>
            <a:endParaRPr sz="3820" b="1" u="none" strike="noStrike">
              <a:solidFill>
                <a:schemeClr val="lt1"/>
              </a:solidFill>
            </a:endParaRPr>
          </a:p>
        </p:txBody>
      </p:sp>
      <p:sp>
        <p:nvSpPr>
          <p:cNvPr id="53" name=""/>
          <p:cNvSpPr>
            <a:spLocks noGrp="1"/>
          </p:cNvSpPr>
          <p:nvPr/>
        </p:nvSpPr>
        <p:spPr>
          <a:xfrm>
            <a:off x="1571760" y="34937640"/>
            <a:ext cx="13003920" cy="4552560"/>
          </a:xfrm>
          <a:prstGeom prst="rect">
            <a:avLst/>
          </a:prstGeom>
          <a:noFill/>
          <a:ln w="0">
            <a:noFill/>
          </a:ln>
        </p:spPr>
        <p:txBody>
          <a:bodyPr lIns="90000" tIns="45000" rIns="90000" bIns="45000" anchor="t">
            <a:noAutofit/>
          </a:bodyPr>
          <a:lstStyle/>
          <a:p>
            <a:pPr>
              <a:lnSpc>
                <a:spcPct val="100000"/>
              </a:lnSpc>
              <a:buNone/>
              <a:defRPr/>
            </a:pPr>
            <a:r>
              <a:rPr sz="2930" b="0" u="none" strike="noStrike">
                <a:solidFill>
                  <a:srgbClr val="6a7c8d"/>
                </a:solidFill>
              </a:rPr>
              <a:t>[운영 주체와 협력자는 누구인가요?]</a:t>
            </a:r>
            <a:endParaRPr sz="2930" b="0" u="none" strike="noStrike">
              <a:solidFill>
                <a:srgbClr val="6a7c8d"/>
              </a:solidFill>
            </a:endParaRPr>
          </a:p>
          <a:p>
            <a:pPr>
              <a:lnSpc>
                <a:spcPct val="100000"/>
              </a:lnSpc>
              <a:buNone/>
              <a:defRPr/>
            </a:pPr>
            <a:endParaRPr sz="2930" b="0" u="none" strike="noStrike">
              <a:solidFill>
                <a:srgbClr val="6a7c8d"/>
              </a:solidFill>
            </a:endParaRPr>
          </a:p>
          <a:p>
            <a:pPr>
              <a:lnSpc>
                <a:spcPct val="100000"/>
              </a:lnSpc>
              <a:buNone/>
              <a:defRPr/>
            </a:pPr>
            <a:r>
              <a:rPr lang="en-US" altLang="ko-KR" sz="2930" b="0" u="none" strike="noStrike">
                <a:solidFill>
                  <a:srgbClr val="6a7c8d"/>
                </a:solidFill>
              </a:rPr>
              <a:t>*</a:t>
            </a:r>
            <a:r>
              <a:rPr lang="ko-KR" altLang="en-US" sz="2930" b="0" u="none" strike="noStrike">
                <a:solidFill>
                  <a:srgbClr val="6a7c8d"/>
                </a:solidFill>
              </a:rPr>
              <a:t> 구체적인 수익 모델을 작성하지 않아도 괜찮습니다</a:t>
            </a:r>
            <a:r>
              <a:rPr lang="en-US" altLang="ko-KR" sz="2930" b="0" u="none" strike="noStrike">
                <a:solidFill>
                  <a:srgbClr val="6a7c8d"/>
                </a:solidFill>
              </a:rPr>
              <a:t>.</a:t>
            </a:r>
            <a:endParaRPr lang="ko-KR" altLang="en-US" sz="2930" b="0" u="none" strike="noStrike">
              <a:solidFill>
                <a:srgbClr val="6a7c8d"/>
              </a:solidFill>
            </a:endParaRPr>
          </a:p>
        </p:txBody>
      </p:sp>
      <p:sp>
        <p:nvSpPr>
          <p:cNvPr id="54" name=""/>
          <p:cNvSpPr>
            <a:spLocks noGrp="1"/>
          </p:cNvSpPr>
          <p:nvPr/>
        </p:nvSpPr>
        <p:spPr>
          <a:xfrm>
            <a:off x="15366600" y="33575760"/>
            <a:ext cx="13670640" cy="6190920"/>
          </a:xfrm>
          <a:prstGeom prst="rect">
            <a:avLst/>
          </a:prstGeom>
          <a:solidFill>
            <a:schemeClr val="l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rgbClr val="000000"/>
              </a:solidFill>
            </a:endParaRPr>
          </a:p>
        </p:txBody>
      </p:sp>
      <p:sp>
        <p:nvSpPr>
          <p:cNvPr id="55" name=""/>
          <p:cNvSpPr>
            <a:spLocks noGrp="1"/>
          </p:cNvSpPr>
          <p:nvPr/>
        </p:nvSpPr>
        <p:spPr>
          <a:xfrm>
            <a:off x="15366600" y="33575760"/>
            <a:ext cx="13670640" cy="1047240"/>
          </a:xfrm>
          <a:prstGeom prst="rect">
            <a:avLst/>
          </a:prstGeom>
          <a:solidFill>
            <a:schemeClr val="accent1"/>
          </a:solidFill>
          <a:ln w="28440">
            <a:solidFill>
              <a:schemeClr val="accent1">
                <a:lumMod val="75000"/>
                <a:lumOff val="0"/>
              </a:schemeClr>
            </a:solidFill>
            <a:round/>
          </a:ln>
        </p:spPr>
        <p:txBody>
          <a:bodyPr lIns="90000" tIns="45000" rIns="90000" bIns="45000" anchor="t">
            <a:noAutofit/>
          </a:bodyPr>
          <a:lstStyle/>
          <a:p>
            <a:pPr>
              <a:buNone/>
              <a:defRPr/>
            </a:pPr>
            <a:endParaRPr sz="1800" b="0" u="none" strike="noStrike">
              <a:solidFill>
                <a:srgbClr val="000000"/>
              </a:solidFill>
            </a:endParaRPr>
          </a:p>
        </p:txBody>
      </p:sp>
      <p:sp>
        <p:nvSpPr>
          <p:cNvPr id="56" name=""/>
          <p:cNvSpPr>
            <a:spLocks noGrp="1"/>
          </p:cNvSpPr>
          <p:nvPr/>
        </p:nvSpPr>
        <p:spPr>
          <a:xfrm>
            <a:off x="15652440" y="33804360"/>
            <a:ext cx="13099320" cy="723600"/>
          </a:xfrm>
          <a:prstGeom prst="rect">
            <a:avLst/>
          </a:prstGeom>
          <a:noFill/>
          <a:ln w="0">
            <a:noFill/>
          </a:ln>
        </p:spPr>
        <p:txBody>
          <a:bodyPr lIns="90000" tIns="45000" rIns="90000" bIns="45000" anchor="t">
            <a:noAutofit/>
          </a:bodyPr>
          <a:lstStyle/>
          <a:p>
            <a:pPr>
              <a:lnSpc>
                <a:spcPct val="100000"/>
              </a:lnSpc>
              <a:buNone/>
              <a:defRPr/>
            </a:pPr>
            <a:r>
              <a:rPr sz="3820" b="1" u="none" strike="noStrike">
                <a:solidFill>
                  <a:schemeClr val="lt1"/>
                </a:solidFill>
              </a:rPr>
              <a:t>08  실현 조건과 한계</a:t>
            </a:r>
            <a:endParaRPr sz="3820" b="0" u="none" strike="noStrike">
              <a:solidFill>
                <a:schemeClr val="lt1"/>
              </a:solidFill>
            </a:endParaRPr>
          </a:p>
        </p:txBody>
      </p:sp>
      <p:sp>
        <p:nvSpPr>
          <p:cNvPr id="57" name=""/>
          <p:cNvSpPr>
            <a:spLocks noGrp="1"/>
          </p:cNvSpPr>
          <p:nvPr/>
        </p:nvSpPr>
        <p:spPr>
          <a:xfrm>
            <a:off x="15699960" y="34937640"/>
            <a:ext cx="13003920" cy="4552560"/>
          </a:xfrm>
          <a:prstGeom prst="rect">
            <a:avLst/>
          </a:prstGeom>
          <a:noFill/>
          <a:ln w="0">
            <a:noFill/>
          </a:ln>
        </p:spPr>
        <p:txBody>
          <a:bodyPr lIns="90000" tIns="45000" rIns="90000" bIns="45000" anchor="t">
            <a:noAutofit/>
          </a:bodyPr>
          <a:lstStyle/>
          <a:p>
            <a:pPr>
              <a:lnSpc>
                <a:spcPct val="100000"/>
              </a:lnSpc>
              <a:buNone/>
              <a:defRPr/>
            </a:pPr>
            <a:r>
              <a:rPr sz="2930" b="0" u="none" strike="noStrike">
                <a:solidFill>
                  <a:srgbClr val="6a7c8d"/>
                </a:solidFill>
              </a:rPr>
              <a:t>[필요한 데이터·기술·제도는 무엇인가요?]</a:t>
            </a:r>
            <a:endParaRPr sz="2930" b="0" u="none" strike="noStrike">
              <a:solidFill>
                <a:srgbClr val="6a7c8d"/>
              </a:solidFill>
            </a:endParaRPr>
          </a:p>
          <a:p>
            <a:pPr>
              <a:lnSpc>
                <a:spcPct val="100000"/>
              </a:lnSpc>
              <a:buNone/>
              <a:defRPr/>
            </a:pPr>
            <a:endParaRPr sz="2930" b="0" u="none" strike="noStrike">
              <a:solidFill>
                <a:srgbClr val="6a7c8d"/>
              </a:solidFill>
            </a:endParaRPr>
          </a:p>
          <a:p>
            <a:pPr>
              <a:lnSpc>
                <a:spcPct val="100000"/>
              </a:lnSpc>
              <a:buNone/>
              <a:defRPr/>
            </a:pPr>
            <a:r>
              <a:rPr lang="en-US" altLang="ko-KR" sz="2930" b="0" u="none" strike="noStrike">
                <a:solidFill>
                  <a:srgbClr val="6a7c8d"/>
                </a:solidFill>
              </a:rPr>
              <a:t>[</a:t>
            </a:r>
            <a:r>
              <a:rPr lang="ko-KR" altLang="en-US" sz="2930" b="0" u="none" strike="noStrike">
                <a:solidFill>
                  <a:srgbClr val="6a7c8d"/>
                </a:solidFill>
              </a:rPr>
              <a:t>이 기술의 한계와 구현 상의 어려움을 적어주세요</a:t>
            </a:r>
            <a:r>
              <a:rPr lang="en-US" altLang="ko-KR" sz="2930" b="0" u="none" strike="noStrike">
                <a:solidFill>
                  <a:srgbClr val="6a7c8d"/>
                </a:solidFill>
              </a:rPr>
              <a:t>.]</a:t>
            </a:r>
            <a:endParaRPr lang="en-US" altLang="ko-KR" sz="2930" b="0" u="none" strike="noStrike">
              <a:solidFill>
                <a:srgbClr val="6a7c8d"/>
              </a:solidFill>
            </a:endParaRPr>
          </a:p>
        </p:txBody>
      </p:sp>
      <p:sp>
        <p:nvSpPr>
          <p:cNvPr id="58" name=""/>
          <p:cNvSpPr>
            <a:spLocks noGrp="1"/>
          </p:cNvSpPr>
          <p:nvPr/>
        </p:nvSpPr>
        <p:spPr>
          <a:xfrm>
            <a:off x="1238400" y="40290840"/>
            <a:ext cx="27622080" cy="618840"/>
          </a:xfrm>
          <a:prstGeom prst="rect">
            <a:avLst/>
          </a:prstGeom>
          <a:noFill/>
          <a:ln w="0">
            <a:noFill/>
          </a:ln>
        </p:spPr>
        <p:txBody>
          <a:bodyPr lIns="90000" tIns="45000" rIns="90000" bIns="45000" anchor="t">
            <a:noAutofit/>
          </a:bodyPr>
          <a:lstStyle/>
          <a:p>
            <a:pPr>
              <a:lnSpc>
                <a:spcPct val="100000"/>
              </a:lnSpc>
              <a:buNone/>
              <a:defRPr/>
            </a:pPr>
            <a:r>
              <a:rPr sz="2550" b="0" u="none" strike="noStrike">
                <a:solidFill>
                  <a:srgbClr val="6a7c8d"/>
                </a:solidFill>
              </a:rPr>
              <a:t>출처·참고자료 [사용한 자료의 출처를 기재하세요]</a:t>
            </a:r>
            <a:endParaRPr sz="2550" b="0" u="none" strike="noStrike">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PlaceHolder 1"/>
          <p:cNvSpPr>
            <a:spLocks noGrp="1"/>
          </p:cNvSpPr>
          <p:nvPr>
            <p:ph type="title" idx="0"/>
          </p:nvPr>
        </p:nvSpPr>
        <p:spPr>
          <a:xfrm>
            <a:off x="3027385" y="4648199"/>
            <a:ext cx="24220440" cy="17526000"/>
          </a:xfrm>
        </p:spPr>
        <p:txBody>
          <a:bodyPr/>
          <a:p>
            <a:pPr indent="0" algn="l">
              <a:lnSpc>
                <a:spcPct val="100000"/>
              </a:lnSpc>
              <a:buNone/>
              <a:defRPr/>
            </a:pPr>
            <a:r>
              <a:rPr sz="5000" b="1" u="none" strike="noStrike">
                <a:solidFill>
                  <a:srgbClr val="000000"/>
                </a:solidFill>
              </a:rPr>
              <a:t>작성 안내</a:t>
            </a:r>
            <a:br>
              <a:rPr sz="5000" b="1" u="none" strike="noStrike">
                <a:solidFill>
                  <a:srgbClr val="000000"/>
                </a:solidFill>
              </a:rPr>
            </a:br>
            <a:br>
              <a:rPr sz="5000" b="0" u="none" strike="noStrike">
                <a:solidFill>
                  <a:srgbClr val="000000"/>
                </a:solidFill>
              </a:rPr>
            </a:br>
            <a:r>
              <a:rPr sz="5000" b="0" u="none" strike="noStrike">
                <a:solidFill>
                  <a:srgbClr val="000000"/>
                </a:solidFill>
              </a:rPr>
              <a:t>주제: 양자컴퓨터를 비롯한 양자 기술이 실현된 미래에서, 어떤 문제를 풀고 어떤 사업·서비스를 만들 것인가?</a:t>
            </a:r>
            <a:br>
              <a:rPr sz="5000" b="0" u="none" strike="noStrike">
                <a:solidFill>
                  <a:srgbClr val="000000"/>
                </a:solidFill>
              </a:rPr>
            </a:br>
            <a:r>
              <a:rPr sz="5000" b="0" u="none" strike="noStrike">
                <a:solidFill>
                  <a:srgbClr val="000000"/>
                </a:solidFill>
              </a:rPr>
              <a:t>공공 서비스, 연구 지원, 사회적 활용, 미래 시나리오를 모두 제안할 수 있습니다.</a:t>
            </a:r>
            <a:br>
              <a:rPr sz="5000" b="0" u="none" strike="noStrike">
                <a:solidFill>
                  <a:srgbClr val="000000"/>
                </a:solidFill>
              </a:rPr>
            </a:br>
            <a:r>
              <a:rPr sz="5000" b="0" u="none" strike="noStrike">
                <a:solidFill>
                  <a:srgbClr val="000000"/>
                </a:solidFill>
              </a:rPr>
              <a:t>시장 규모나 정확한 매출 예측 대신 누가 혜택을 받고 어떤 변화가 생기는지 설명해도 됩니다.</a:t>
            </a:r>
            <a:br>
              <a:rPr sz="5000" b="0" u="none" strike="noStrike">
                <a:solidFill>
                  <a:srgbClr val="000000"/>
                </a:solidFill>
              </a:rPr>
            </a:br>
            <a:r>
              <a:rPr sz="5000" b="0" u="none" strike="noStrike">
                <a:solidFill>
                  <a:srgbClr val="000000"/>
                </a:solidFill>
              </a:rPr>
              <a:t>양자기술이 이용되는 방법을 구체적으로 설명하고, 과학적 사실과 팀의 가정·전망을 구분해 적어주세요.</a:t>
            </a:r>
            <a:br>
              <a:rPr sz="5000" b="0" u="none" strike="noStrike">
                <a:solidFill>
                  <a:srgbClr val="000000"/>
                </a:solidFill>
              </a:rPr>
            </a:br>
            <a:br>
              <a:rPr sz="5000" b="0" u="none" strike="noStrike">
                <a:solidFill>
                  <a:srgbClr val="000000"/>
                </a:solidFill>
              </a:rPr>
            </a:br>
            <a:r>
              <a:rPr sz="5000" b="1" u="none" strike="noStrike">
                <a:solidFill>
                  <a:srgbClr val="000000"/>
                </a:solidFill>
              </a:rPr>
              <a:t>작성 규범</a:t>
            </a:r>
            <a:br>
              <a:rPr sz="5000" b="0" u="none" strike="noStrike">
                <a:solidFill>
                  <a:srgbClr val="000000"/>
                </a:solidFill>
              </a:rPr>
            </a:br>
            <a:br>
              <a:rPr sz="5000" b="0" u="none" strike="noStrike">
                <a:solidFill>
                  <a:srgbClr val="000000"/>
                </a:solidFill>
              </a:rPr>
            </a:br>
            <a:r>
              <a:rPr sz="5000" b="0" u="none" strike="noStrike">
                <a:solidFill>
                  <a:srgbClr val="000000"/>
                </a:solidFill>
              </a:rPr>
              <a:t>1. 회색 안내 문구는 팀의 내용으로 교체하거나 삭제하세요.</a:t>
            </a:r>
            <a:br>
              <a:rPr sz="5000" b="0" u="none" strike="noStrike">
                <a:solidFill>
                  <a:srgbClr val="000000"/>
                </a:solidFill>
              </a:rPr>
            </a:br>
            <a:r>
              <a:rPr sz="5000" b="0" u="none" strike="noStrike">
                <a:solidFill>
                  <a:srgbClr val="000000"/>
                </a:solidFill>
              </a:rPr>
              <a:t>2. 그림 영역은 직접 만든 도식·이미지로 채우세요.</a:t>
            </a:r>
            <a:br>
              <a:rPr sz="5000" b="0" u="none" strike="noStrike">
                <a:solidFill>
                  <a:srgbClr val="000000"/>
                </a:solidFill>
              </a:rPr>
            </a:br>
            <a:r>
              <a:rPr sz="5000" b="0" u="none" strike="noStrike">
                <a:solidFill>
                  <a:srgbClr val="000000"/>
                </a:solidFill>
              </a:rPr>
              <a:t>3. 외부 자료를 사용하였다면 포스터 하단에 출처를 기록하세요.</a:t>
            </a:r>
            <a:br>
              <a:rPr sz="5000" b="0" u="none" strike="noStrike">
                <a:solidFill>
                  <a:srgbClr val="000000"/>
                </a:solidFill>
              </a:rPr>
            </a:br>
            <a:r>
              <a:rPr sz="5000" b="0" u="none" strike="noStrike">
                <a:solidFill>
                  <a:srgbClr val="000000"/>
                </a:solidFill>
              </a:rPr>
              <a:t>4. AI를 활용한 도식·이미지에는 반드시 활용 AI 모델을 병기하세요.</a:t>
            </a:r>
            <a:br>
              <a:rPr sz="5000" b="0" u="none" strike="noStrike">
                <a:solidFill>
                  <a:srgbClr val="000000"/>
                </a:solidFill>
              </a:rPr>
            </a:br>
            <a:br>
              <a:rPr sz="5000" b="0" u="none" strike="noStrike">
                <a:solidFill>
                  <a:srgbClr val="000000"/>
                </a:solidFill>
              </a:rPr>
            </a:br>
            <a:r>
              <a:rPr sz="5000" b="1" u="none" strike="noStrike">
                <a:solidFill>
                  <a:srgbClr val="000000"/>
                </a:solidFill>
              </a:rPr>
              <a:t>포스터 규격</a:t>
            </a:r>
            <a:br>
              <a:rPr lang="ko-KR" altLang="en-US" sz="5000" b="1" u="none" strike="noStrike">
                <a:solidFill>
                  <a:srgbClr val="000000"/>
                </a:solidFill>
              </a:rPr>
            </a:br>
            <a:br>
              <a:rPr sz="5000" b="0" u="none" strike="noStrike">
                <a:solidFill>
                  <a:srgbClr val="000000"/>
                </a:solidFill>
              </a:rPr>
            </a:br>
            <a:r>
              <a:rPr sz="5000" b="0" u="none" strike="noStrike">
                <a:solidFill>
                  <a:srgbClr val="000000"/>
                </a:solidFill>
              </a:rPr>
              <a:t>A0 세로 841 × 1189 mm, 1장</a:t>
            </a:r>
            <a:br>
              <a:rPr lang="ko-KR" altLang="en-US" sz="5000" b="0" u="none" strike="noStrike">
                <a:solidFill>
                  <a:srgbClr val="000000"/>
                </a:solidFill>
              </a:rPr>
            </a:br>
            <a:br>
              <a:rPr sz="5000" b="0" u="none" strike="noStrike">
                <a:solidFill>
                  <a:srgbClr val="000000"/>
                </a:solidFill>
              </a:rPr>
            </a:br>
            <a:r>
              <a:rPr sz="5000" b="0" u="none" strike="noStrike">
                <a:solidFill>
                  <a:srgbClr val="000000"/>
                </a:solidFill>
              </a:rPr>
              <a:t>규격 내에서 칸 크기를 조정하거나 추가 디자인 요소를 삽입하는 것은 가능합니다.</a:t>
            </a:r>
            <a:br>
              <a:rPr sz="5000" b="0" u="none" strike="noStrike">
                <a:solidFill>
                  <a:srgbClr val="000000"/>
                </a:solidFill>
              </a:rPr>
            </a:br>
            <a:r>
              <a:rPr sz="5000" b="0" u="none" strike="noStrike">
                <a:solidFill>
                  <a:srgbClr val="000000"/>
                </a:solidFill>
              </a:rPr>
              <a:t>다만 기존 항목을 삭제하면 크게 감점될 수 있습니다.</a:t>
            </a:r>
            <a:endParaRPr sz="5000" b="0" u="none" strike="noStrike">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ChatGPT">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ChatGPT">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256</ep:Words>
  <ep:PresentationFormat>Converted Presentation</ep:PresentationFormat>
  <ep:Paragraphs>62</ep:Paragraphs>
  <ep:Slides>2</ep:Slides>
  <ep:Notes>1</ep:Notes>
  <ep:TotalTime>0</ep:TotalTime>
  <ep:HiddenSlides>0</ep:HiddenSlides>
  <ep:MMClips>0</ep:MMClips>
  <ep:HeadingPairs>
    <vt:vector size="4" baseType="variant">
      <vt:variant>
        <vt:lpstr>테마</vt:lpstr>
      </vt:variant>
      <vt:variant>
        <vt:i4>1</vt:i4>
      </vt:variant>
      <vt:variant>
        <vt:lpstr>슬라이드 제목</vt:lpstr>
      </vt:variant>
      <vt:variant>
        <vt:i4>2</vt:i4>
      </vt:variant>
    </vt:vector>
  </ep:HeadingPairs>
  <ep:TitlesOfParts>
    <vt:vector size="3" baseType="lpstr">
      <vt:lpstr>ChatGPT</vt:lpstr>
      <vt:lpstr>슬라이드 1</vt:lpstr>
      <vt:lpstr>작성 안내  주제: 양자컴퓨터를 비롯한 양자 기술이 실현된 미래에서, 어떤 문제를 풀고 어떤 사업·서비스를 만들 것인가? 공공 서비스, 연구 지원, 사회적 활용, 미래 시나리오를 모두 제안할 수 있습니다. 시장 규모나 정확한 매출 예측 대신 누가 혜택을 받고 어떤 변화가 생기는지 설명해도 됩니다. 양자기술이 이용되는 방법을 구체적으로 설명하고, 과학적 사실과 팀의 가정·전망을 구분해 적어주세요.  작성 규범  1. 회색 안내 문구는 팀의 내용으로 교체하거나 삭제하세요. 2. 그림 영역은 직접 만든 도식·이미지로 채우세요. 3. 외부 자료를 사용하였다면 포스터 하단에 출처를 기록하세요. 4. AI를 활용한 도식·이미지에는 반드시 활용 AI 모델을 병기하세요.  포스터 규격  A0 세로 841 × 1189 mm, 1장  규격 내에서 칸 크기를 조정하거나 추가 디자인 요소를 삽입하는 것은 가능합니다. 다만 기존 항목을 삭제하면 크게 감점될 수 있습니다.</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cp:lastModifiedBy>kgy03</cp:lastModifiedBy>
  <dcterms:modified xsi:type="dcterms:W3CDTF">2026-10-14T06:56:54.069</dcterms:modified>
  <cp:revision>5</cp:revision>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