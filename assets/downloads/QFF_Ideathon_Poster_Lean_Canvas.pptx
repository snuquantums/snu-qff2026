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479">
          <p15:clr>
            <a:srgbClr val="A4A3A4"/>
          </p15:clr>
        </p15:guide>
        <p15:guide id="2" pos="95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52902"/>
  </p:normalViewPr>
  <p:slideViewPr>
    <p:cSldViewPr snapToGrid="0" snapToObjects="1">
      <p:cViewPr>
        <p:scale>
          <a:sx n="33" d="100"/>
          <a:sy n="33" d="100"/>
        </p:scale>
        <p:origin x="946" y="-2722"/>
      </p:cViewPr>
      <p:guideLst>
        <p:guide orient="horz" pos="13479"/>
        <p:guide pos="9534"/>
      </p:guideLst>
    </p:cSldViewPr>
  </p:slideViewPr>
  <p:notesTextViewPr>
    <p:cViewPr>
      <p:scale>
        <a:sx n="95" d="100"/>
        <a:sy n="95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 noTextEdi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작성 안내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주제: 양자컴퓨터를 비롯한 양자 기술이 실현된 미래에서, 어떤 문제를 풀고 어떤 </a:t>
            </a:r>
            <a:r>
              <a:rPr lang="ko-KR" altLang="en-US" dirty="0" err="1"/>
              <a:t>사업·서비스를</a:t>
            </a:r>
            <a:r>
              <a:rPr lang="ko-KR" altLang="en-US" dirty="0"/>
              <a:t> 만들 것인가?</a:t>
            </a:r>
          </a:p>
          <a:p>
            <a:pPr lvl="0">
              <a:defRPr/>
            </a:pPr>
            <a:r>
              <a:rPr lang="ko-KR" altLang="en-US" dirty="0"/>
              <a:t>공공 서비스, 연구 지원, 사회적 활용, 미래 시나리오를 모두 제안할 수 있습니다.</a:t>
            </a:r>
          </a:p>
          <a:p>
            <a:pPr lvl="0">
              <a:defRPr/>
            </a:pPr>
            <a:r>
              <a:rPr lang="ko-KR" altLang="en-US" dirty="0"/>
              <a:t>시장 규모나 정확한 매출 예측 대신 누가 혜택을 받고 어떤 변화가 생기는지 설명해도 됩니다.</a:t>
            </a:r>
          </a:p>
          <a:p>
            <a:pPr lvl="0">
              <a:defRPr/>
            </a:pPr>
            <a:r>
              <a:rPr lang="ko-KR" altLang="en-US" dirty="0"/>
              <a:t>양자기술이 이용되는 방법을 구체적으로 설명하고, 과학적 사실과 팀의 </a:t>
            </a:r>
            <a:r>
              <a:rPr lang="ko-KR" altLang="en-US" dirty="0" err="1"/>
              <a:t>가정·전망을</a:t>
            </a:r>
            <a:r>
              <a:rPr lang="ko-KR" altLang="en-US" dirty="0"/>
              <a:t> 구분해 적어주세요</a:t>
            </a:r>
            <a:r>
              <a:rPr lang="en-US" altLang="ko-KR" dirty="0"/>
              <a:t>.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작성 규범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en-US" altLang="ko-KR" dirty="0"/>
              <a:t>1.</a:t>
            </a:r>
            <a:r>
              <a:rPr lang="ko-KR" altLang="en-US" dirty="0"/>
              <a:t> 회색 안내 문구는 팀의 내용으로 교체하거나 삭제하세요.</a:t>
            </a:r>
          </a:p>
          <a:p>
            <a:pPr lvl="0">
              <a:defRPr/>
            </a:pPr>
            <a:r>
              <a:rPr lang="en-US" altLang="ko-KR" dirty="0"/>
              <a:t>2.</a:t>
            </a:r>
            <a:r>
              <a:rPr lang="ko-KR" altLang="en-US" dirty="0"/>
              <a:t> 그림 영역은 직접 만든 </a:t>
            </a:r>
            <a:r>
              <a:rPr lang="ko-KR" altLang="en-US" dirty="0" err="1"/>
              <a:t>도식·이미지로</a:t>
            </a:r>
            <a:r>
              <a:rPr lang="ko-KR" altLang="en-US" dirty="0"/>
              <a:t> 채우세요.</a:t>
            </a:r>
          </a:p>
          <a:p>
            <a:pPr lvl="0">
              <a:defRPr/>
            </a:pPr>
            <a:r>
              <a:rPr lang="en-US" altLang="ko-KR" dirty="0"/>
              <a:t>3.</a:t>
            </a:r>
            <a:r>
              <a:rPr lang="ko-KR" altLang="en-US" dirty="0"/>
              <a:t> 외부 자료를 사용하였다면 포스터 하단에 출처를 기록하세요.</a:t>
            </a:r>
          </a:p>
          <a:p>
            <a:pPr lvl="0">
              <a:defRPr/>
            </a:pPr>
            <a:r>
              <a:rPr lang="en-US" altLang="ko-KR" dirty="0"/>
              <a:t>4.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를 활용한 </a:t>
            </a:r>
            <a:r>
              <a:rPr lang="ko-KR" altLang="en-US" dirty="0" err="1"/>
              <a:t>도식·이미지에는</a:t>
            </a:r>
            <a:r>
              <a:rPr lang="ko-KR" altLang="en-US" dirty="0"/>
              <a:t> 반드시 활용 </a:t>
            </a:r>
            <a:r>
              <a:rPr lang="en-US" altLang="ko-KR" dirty="0"/>
              <a:t>AI</a:t>
            </a:r>
            <a:r>
              <a:rPr lang="ko-KR" altLang="en-US" dirty="0"/>
              <a:t> 모델을 병기하세요</a:t>
            </a:r>
            <a:r>
              <a:rPr lang="en-US" altLang="ko-KR" dirty="0"/>
              <a:t>.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포스터 규격</a:t>
            </a:r>
          </a:p>
          <a:p>
            <a:pPr lvl="0">
              <a:defRPr/>
            </a:pPr>
            <a:r>
              <a:rPr lang="ko-KR" altLang="en-US" dirty="0"/>
              <a:t>A0 세로 841 × 1189 </a:t>
            </a:r>
            <a:r>
              <a:rPr lang="ko-KR" altLang="en-US" dirty="0" err="1"/>
              <a:t>mm</a:t>
            </a:r>
            <a:r>
              <a:rPr lang="ko-KR" altLang="en-US" dirty="0"/>
              <a:t>, 1장</a:t>
            </a:r>
          </a:p>
          <a:p>
            <a:pPr lvl="0">
              <a:defRPr/>
            </a:pPr>
            <a:r>
              <a:rPr lang="ko-KR" altLang="en-US" dirty="0"/>
              <a:t>규격 내에서 칸 크기를 조정하거나 추가 디자인 요소를 삽입하는 것은 가능합니다</a:t>
            </a:r>
            <a:r>
              <a:rPr lang="en-US" altLang="ko-KR" dirty="0"/>
              <a:t>.</a:t>
            </a:r>
          </a:p>
          <a:p>
            <a:pPr lvl="0">
              <a:defRPr/>
            </a:pPr>
            <a:r>
              <a:rPr lang="ko-KR" altLang="en-US" dirty="0"/>
              <a:t>다만 기존 항목을 삭제하면 크게 감점될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0A26202-90CD-4BBA-8351-E3A284D32973}"/>
              </a:ext>
            </a:extLst>
          </p:cNvPr>
          <p:cNvSpPr>
            <a:spLocks noGrp="1"/>
          </p:cNvSpPr>
          <p:nvPr/>
        </p:nvSpPr>
        <p:spPr>
          <a:xfrm>
            <a:off x="14381100" y="13792400"/>
            <a:ext cx="1513800" cy="2378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E7DBDC-7A20-4BC2-95A2-50DE9583D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7600" y="16170400"/>
            <a:ext cx="24220800" cy="6182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80F9ABB-0C2C-4340-942D-7A15FC593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1400" y="23542200"/>
            <a:ext cx="21193200" cy="4756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79889-2F44-BE07-DE9B-CA980D3D3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213" y="2279650"/>
            <a:ext cx="26112787" cy="82724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719689-9E90-2C5A-3B36-51E769458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213" y="11395075"/>
            <a:ext cx="26112787" cy="27157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8813398B-0F8B-4AA7-BC3C-A4F78D09F732}"/>
              </a:ext>
            </a:extLst>
          </p:cNvPr>
          <p:cNvSpPr>
            <a:spLocks noGrp="1"/>
          </p:cNvSpPr>
          <p:nvPr/>
        </p:nvSpPr>
        <p:spPr>
          <a:xfrm>
            <a:off x="1703025" y="9512000"/>
            <a:ext cx="1513800" cy="2378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55EDE4E-ACC7-4736-8D07-599C422A0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025" y="3329200"/>
            <a:ext cx="26869950" cy="5231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EB4941FD-C534-4FC0-B0E9-80AA0BB8A4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03025" y="11890000"/>
            <a:ext cx="26869950" cy="26633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5676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1pPr>
            <a:lvl2pPr marL="13245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2pPr>
            <a:lvl3pPr marL="20814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3pPr>
            <a:lvl4pPr marL="28383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4pPr>
            <a:lvl5pPr marL="35952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5pPr>
            <a:lvl6pPr marL="43521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6pPr>
            <a:lvl7pPr marL="51090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7pPr>
            <a:lvl8pPr marL="58659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8pPr>
            <a:lvl9pPr marL="6622875" indent="-567675">
              <a:lnSpc>
                <a:spcPct val="110000"/>
              </a:lnSpc>
              <a:spcBef>
                <a:spcPts val="0"/>
              </a:spcBef>
              <a:spcAft>
                <a:spcPts val="298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616A-64F2-FDA3-6300-C4DE5F194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213" y="2279650"/>
            <a:ext cx="26112787" cy="82724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714F42-DDC6-247F-A4E5-B75B568E6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213" y="11395075"/>
            <a:ext cx="26112787" cy="27157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8F31-D553-602B-63C9-9C0C8CBDF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213" y="2279650"/>
            <a:ext cx="26112787" cy="82724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56A1C-232B-2DAD-0CFB-47F664E23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213" y="11395075"/>
            <a:ext cx="26112787" cy="27157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4605C-215F-3792-8B6E-D7CF5385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213" y="2279650"/>
            <a:ext cx="26112787" cy="82724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CE1068-849B-FC89-A7CE-23CCC12D3A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1213" y="11395075"/>
            <a:ext cx="26112787" cy="271573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00A9DB05-F94E-4FF8-990F-1B869F9673DF}"/>
              </a:ext>
            </a:extLst>
          </p:cNvPr>
          <p:cNvSpPr>
            <a:spLocks noGrp="1"/>
          </p:cNvSpPr>
          <p:nvPr/>
        </p:nvSpPr>
        <p:spPr>
          <a:xfrm>
            <a:off x="1238250" y="1047750"/>
            <a:ext cx="27622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1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15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Qiskit Fall Fest @SNU 2026 · IDEATHON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EB9CC8-C65A-43BE-BC5D-75B4AB76A703}"/>
              </a:ext>
            </a:extLst>
          </p:cNvPr>
          <p:cNvSpPr>
            <a:spLocks noGrp="1"/>
          </p:cNvSpPr>
          <p:nvPr/>
        </p:nvSpPr>
        <p:spPr>
          <a:xfrm>
            <a:off x="1238250" y="2047875"/>
            <a:ext cx="27622500" cy="1476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4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8400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아이디어명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5950E0-70D6-44D4-A3C2-20CB9C4D30A4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27622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4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427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[서비스나 경험을 소개하는 한 문장]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3821E6-AB6D-4773-86D9-B83680BA806B}"/>
              </a:ext>
            </a:extLst>
          </p:cNvPr>
          <p:cNvSpPr>
            <a:spLocks noGrp="1"/>
          </p:cNvSpPr>
          <p:nvPr/>
        </p:nvSpPr>
        <p:spPr>
          <a:xfrm>
            <a:off x="1238250" y="5238750"/>
            <a:ext cx="276225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300" b="0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300" b="0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팀명 [          ]    팀원 [                                   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22F4E5-25ED-4B94-A293-9B652F4D5625}"/>
              </a:ext>
            </a:extLst>
          </p:cNvPr>
          <p:cNvSpPr>
            <a:spLocks noGrp="1"/>
          </p:cNvSpPr>
          <p:nvPr/>
        </p:nvSpPr>
        <p:spPr>
          <a:xfrm>
            <a:off x="1238250" y="7524750"/>
            <a:ext cx="27799500" cy="3857625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F75C7-A22B-4633-A44C-8F22DA474395}"/>
              </a:ext>
            </a:extLst>
          </p:cNvPr>
          <p:cNvSpPr>
            <a:spLocks noGrp="1"/>
          </p:cNvSpPr>
          <p:nvPr/>
        </p:nvSpPr>
        <p:spPr>
          <a:xfrm>
            <a:off x="1238250" y="7524750"/>
            <a:ext cx="2779950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8" name="Rectangle 7"/>
          <p:cNvSpPr>
            <a:spLocks noGrp="1"/>
          </p:cNvSpPr>
          <p:nvPr/>
        </p:nvSpPr>
        <p:spPr>
          <a:xfrm>
            <a:off x="1524000" y="7753350"/>
            <a:ext cx="27228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01  우리가 상상한 미래</a:t>
            </a:r>
            <a:r>
              <a:rPr lang="ko-KR" altLang="en-US"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 상황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327FAB-06C9-41F9-BA31-3A9F23ADC2CA}"/>
              </a:ext>
            </a:extLst>
          </p:cNvPr>
          <p:cNvSpPr>
            <a:spLocks noGrp="1"/>
          </p:cNvSpPr>
          <p:nvPr/>
        </p:nvSpPr>
        <p:spPr>
          <a:xfrm>
            <a:off x="1571625" y="8886825"/>
            <a:ext cx="27132750" cy="22193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[어떤 시점과 상황인가요? 기술과 사회는 어떻게 달라졌나요?]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73E86E-7E10-4E78-8F9D-CF6237784AAE}"/>
              </a:ext>
            </a:extLst>
          </p:cNvPr>
          <p:cNvSpPr>
            <a:spLocks noGrp="1"/>
          </p:cNvSpPr>
          <p:nvPr/>
        </p:nvSpPr>
        <p:spPr>
          <a:xfrm>
            <a:off x="1238250" y="11811000"/>
            <a:ext cx="13671150" cy="48577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784374-8803-44BF-82E3-9E7373E8C6FF}"/>
              </a:ext>
            </a:extLst>
          </p:cNvPr>
          <p:cNvSpPr>
            <a:spLocks noGrp="1"/>
          </p:cNvSpPr>
          <p:nvPr/>
        </p:nvSpPr>
        <p:spPr>
          <a:xfrm>
            <a:off x="1238250" y="11811000"/>
            <a:ext cx="1367115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2236F-01CA-42E5-8DCD-FC19265E4077}"/>
              </a:ext>
            </a:extLst>
          </p:cNvPr>
          <p:cNvSpPr>
            <a:spLocks noGrp="1"/>
          </p:cNvSpPr>
          <p:nvPr/>
        </p:nvSpPr>
        <p:spPr>
          <a:xfrm>
            <a:off x="1524000" y="12039600"/>
            <a:ext cx="130996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02  문제와 현재의 한계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34C47-13F0-486F-8309-29FF4C93740C}"/>
              </a:ext>
            </a:extLst>
          </p:cNvPr>
          <p:cNvSpPr>
            <a:spLocks noGrp="1"/>
          </p:cNvSpPr>
          <p:nvPr/>
        </p:nvSpPr>
        <p:spPr>
          <a:xfrm>
            <a:off x="1571625" y="13173075"/>
            <a:ext cx="13004400" cy="3219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[무엇을 해결하고 싶나요?]</a:t>
            </a:r>
          </a:p>
          <a:p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[기존 방식에는 어떤 한계가 있나요?]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F6878B-78D5-41FF-928C-56A3FC1714A4}"/>
              </a:ext>
            </a:extLst>
          </p:cNvPr>
          <p:cNvSpPr>
            <a:spLocks noGrp="1"/>
          </p:cNvSpPr>
          <p:nvPr/>
        </p:nvSpPr>
        <p:spPr>
          <a:xfrm>
            <a:off x="15366600" y="11811000"/>
            <a:ext cx="13671150" cy="48577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189CCF-294A-4C49-BE41-6911A9325950}"/>
              </a:ext>
            </a:extLst>
          </p:cNvPr>
          <p:cNvSpPr>
            <a:spLocks noGrp="1"/>
          </p:cNvSpPr>
          <p:nvPr/>
        </p:nvSpPr>
        <p:spPr>
          <a:xfrm>
            <a:off x="15366600" y="11811000"/>
            <a:ext cx="1367115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ACE126-CFFF-47CB-8CB0-5EBDB0507C71}"/>
              </a:ext>
            </a:extLst>
          </p:cNvPr>
          <p:cNvSpPr>
            <a:spLocks noGrp="1"/>
          </p:cNvSpPr>
          <p:nvPr/>
        </p:nvSpPr>
        <p:spPr>
          <a:xfrm>
            <a:off x="15652350" y="12039600"/>
            <a:ext cx="130996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03  사용자와 혜택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E30233-DC65-48AF-A986-0C5A2236D186}"/>
              </a:ext>
            </a:extLst>
          </p:cNvPr>
          <p:cNvSpPr>
            <a:spLocks noGrp="1"/>
          </p:cNvSpPr>
          <p:nvPr/>
        </p:nvSpPr>
        <p:spPr>
          <a:xfrm>
            <a:off x="15699975" y="13173075"/>
            <a:ext cx="13004400" cy="3219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[누가 사용하거나 혜택을 받나요?]</a:t>
            </a:r>
          </a:p>
          <a:p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[그 사람에게 왜 필요한가요?]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8E8D7B-A692-48F0-B3AB-C6B2E8D68CE8}"/>
              </a:ext>
            </a:extLst>
          </p:cNvPr>
          <p:cNvSpPr>
            <a:spLocks noGrp="1"/>
          </p:cNvSpPr>
          <p:nvPr/>
        </p:nvSpPr>
        <p:spPr>
          <a:xfrm>
            <a:off x="1238250" y="17097375"/>
            <a:ext cx="13671150" cy="98107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352C30-C8F8-421B-A9A0-BC6AC7EC19FE}"/>
              </a:ext>
            </a:extLst>
          </p:cNvPr>
          <p:cNvSpPr>
            <a:spLocks noGrp="1"/>
          </p:cNvSpPr>
          <p:nvPr/>
        </p:nvSpPr>
        <p:spPr>
          <a:xfrm>
            <a:off x="1238250" y="17097375"/>
            <a:ext cx="1367115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B903A1-CEEB-4C28-A487-97B08FB80C65}"/>
              </a:ext>
            </a:extLst>
          </p:cNvPr>
          <p:cNvSpPr>
            <a:spLocks noGrp="1"/>
          </p:cNvSpPr>
          <p:nvPr/>
        </p:nvSpPr>
        <p:spPr>
          <a:xfrm>
            <a:off x="1524000" y="17325975"/>
            <a:ext cx="130996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04  제안하는 서비스·경험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8DF8B0-B700-4136-9951-B91357C01C31}"/>
              </a:ext>
            </a:extLst>
          </p:cNvPr>
          <p:cNvSpPr>
            <a:spLocks noGrp="1"/>
          </p:cNvSpPr>
          <p:nvPr/>
        </p:nvSpPr>
        <p:spPr>
          <a:xfrm>
            <a:off x="1571625" y="18459450"/>
            <a:ext cx="13004400" cy="817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[서비스의 핵심 기능과 작동 방식을</a:t>
            </a: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그림 또는 짧은 설명으로 보여주세요.]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2E87B2-AD0C-490B-86B1-D73685AFC1B0}"/>
              </a:ext>
            </a:extLst>
          </p:cNvPr>
          <p:cNvSpPr>
            <a:spLocks noGrp="1"/>
          </p:cNvSpPr>
          <p:nvPr/>
        </p:nvSpPr>
        <p:spPr>
          <a:xfrm>
            <a:off x="15366600" y="17097375"/>
            <a:ext cx="13671150" cy="98107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62A5A1-96FC-46A8-9F8B-2652A4CD6BB8}"/>
              </a:ext>
            </a:extLst>
          </p:cNvPr>
          <p:cNvSpPr>
            <a:spLocks noGrp="1"/>
          </p:cNvSpPr>
          <p:nvPr/>
        </p:nvSpPr>
        <p:spPr>
          <a:xfrm>
            <a:off x="15366600" y="17097375"/>
            <a:ext cx="1367115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24" name="Rectangle 23"/>
          <p:cNvSpPr>
            <a:spLocks noGrp="1"/>
          </p:cNvSpPr>
          <p:nvPr/>
        </p:nvSpPr>
        <p:spPr>
          <a:xfrm>
            <a:off x="15652350" y="17325976"/>
            <a:ext cx="130996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05  양자</a:t>
            </a:r>
            <a:r>
              <a:rPr lang="ko-KR" altLang="en-US"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 기술의 적용과 구현</a:t>
            </a:r>
          </a:p>
        </p:txBody>
      </p:sp>
      <p:sp>
        <p:nvSpPr>
          <p:cNvPr id="25" name="Rectangle 24"/>
          <p:cNvSpPr>
            <a:spLocks noGrp="1"/>
          </p:cNvSpPr>
          <p:nvPr/>
        </p:nvSpPr>
        <p:spPr>
          <a:xfrm>
            <a:off x="15699975" y="18459450"/>
            <a:ext cx="13004400" cy="817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[어떤 데이터·조건을 입력하나요?]</a:t>
            </a:r>
          </a:p>
          <a:p>
            <a:pPr lvl="0"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[어떤 계산이나 탐색을 맡기나요?]</a:t>
            </a:r>
          </a:p>
          <a:p>
            <a:pPr lvl="0"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[그 결과를 어떻게 활용하나요?]</a:t>
            </a:r>
          </a:p>
          <a:p>
            <a:pPr lvl="0"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</a:t>
            </a:r>
            <a:r>
              <a:rPr lang="en-US" altLang="ko-KR"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Qiskit</a:t>
            </a:r>
            <a:r>
              <a:rPr lang="ko-KR" altLang="en-US"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을 이용한 검증 결과를 보여주세요</a:t>
            </a: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.]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30D199-D1A4-4DBF-933A-ABEAEE9874C9}"/>
              </a:ext>
            </a:extLst>
          </p:cNvPr>
          <p:cNvSpPr>
            <a:spLocks noGrp="1"/>
          </p:cNvSpPr>
          <p:nvPr/>
        </p:nvSpPr>
        <p:spPr>
          <a:xfrm>
            <a:off x="1238250" y="27336750"/>
            <a:ext cx="27799500" cy="58102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59AACE-4AF3-48F4-A8DC-5DE6B7E479E0}"/>
              </a:ext>
            </a:extLst>
          </p:cNvPr>
          <p:cNvSpPr>
            <a:spLocks noGrp="1"/>
          </p:cNvSpPr>
          <p:nvPr/>
        </p:nvSpPr>
        <p:spPr>
          <a:xfrm>
            <a:off x="1238250" y="27336750"/>
            <a:ext cx="2779950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AF1AA2-227E-42E1-B3BA-FDB8CBF6DFAE}"/>
              </a:ext>
            </a:extLst>
          </p:cNvPr>
          <p:cNvSpPr>
            <a:spLocks noGrp="1"/>
          </p:cNvSpPr>
          <p:nvPr/>
        </p:nvSpPr>
        <p:spPr>
          <a:xfrm>
            <a:off x="1524000" y="27565350"/>
            <a:ext cx="27228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06  사용 과정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7D8A2FC-4A4A-4CED-9D0A-3298F5DEBFA4}"/>
              </a:ext>
            </a:extLst>
          </p:cNvPr>
          <p:cNvSpPr>
            <a:spLocks noGrp="1"/>
          </p:cNvSpPr>
          <p:nvPr/>
        </p:nvSpPr>
        <p:spPr>
          <a:xfrm>
            <a:off x="1571625" y="28698825"/>
            <a:ext cx="27132750" cy="417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[이용 시작]                        [핵심 기능 사용]                        [결과 활용]</a:t>
            </a:r>
          </a:p>
          <a:p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사용자가 경험하는 흐름을 그림이나 단계별 설명으로 보여주세요.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77F4A5-0F7A-4438-8A8B-FA26D250D5A5}"/>
              </a:ext>
            </a:extLst>
          </p:cNvPr>
          <p:cNvSpPr>
            <a:spLocks noGrp="1"/>
          </p:cNvSpPr>
          <p:nvPr/>
        </p:nvSpPr>
        <p:spPr>
          <a:xfrm>
            <a:off x="1238250" y="33575625"/>
            <a:ext cx="13671150" cy="61912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85130D-EA9B-4924-8223-6B9350CD641A}"/>
              </a:ext>
            </a:extLst>
          </p:cNvPr>
          <p:cNvSpPr>
            <a:spLocks noGrp="1"/>
          </p:cNvSpPr>
          <p:nvPr/>
        </p:nvSpPr>
        <p:spPr>
          <a:xfrm>
            <a:off x="1238250" y="33575625"/>
            <a:ext cx="1367115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32" name="Rectangle 31"/>
          <p:cNvSpPr>
            <a:spLocks noGrp="1"/>
          </p:cNvSpPr>
          <p:nvPr/>
        </p:nvSpPr>
        <p:spPr>
          <a:xfrm>
            <a:off x="1524000" y="33804224"/>
            <a:ext cx="130996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07  기대 효과</a:t>
            </a:r>
          </a:p>
        </p:txBody>
      </p:sp>
      <p:sp>
        <p:nvSpPr>
          <p:cNvPr id="33" name="Rectangle 32"/>
          <p:cNvSpPr>
            <a:spLocks noGrp="1"/>
          </p:cNvSpPr>
          <p:nvPr/>
        </p:nvSpPr>
        <p:spPr>
          <a:xfrm>
            <a:off x="1571625" y="34937700"/>
            <a:ext cx="13004400" cy="455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[사용자·사회에 어떤 변화가 생기나요?]</a:t>
            </a:r>
          </a:p>
          <a:p>
            <a:pPr lvl="0"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[실현 조건</a:t>
            </a:r>
            <a:r>
              <a:rPr lang="ko-KR" altLang="en-US"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과 한계점은 무엇인가요</a:t>
            </a:r>
            <a:r>
              <a:rPr lang="en-US" altLang="ko-KR"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?]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A0AB31-54D7-49F3-B10D-E2C3FE6786BF}"/>
              </a:ext>
            </a:extLst>
          </p:cNvPr>
          <p:cNvSpPr>
            <a:spLocks noGrp="1"/>
          </p:cNvSpPr>
          <p:nvPr/>
        </p:nvSpPr>
        <p:spPr>
          <a:xfrm>
            <a:off x="15366600" y="33575625"/>
            <a:ext cx="13671150" cy="6191250"/>
          </a:xfrm>
          <a:prstGeom prst="rect">
            <a:avLst/>
          </a:prstGeom>
          <a:solidFill>
            <a:srgbClr val="FFFFFF"/>
          </a:solidFill>
          <a:ln w="28575">
            <a:solidFill>
              <a:srgbClr val="A8C0D6"/>
            </a:solidFill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455EEC0-ADF0-4852-8D78-41624493F439}"/>
              </a:ext>
            </a:extLst>
          </p:cNvPr>
          <p:cNvSpPr>
            <a:spLocks noGrp="1"/>
          </p:cNvSpPr>
          <p:nvPr/>
        </p:nvSpPr>
        <p:spPr>
          <a:xfrm>
            <a:off x="15366600" y="33575625"/>
            <a:ext cx="13671150" cy="1047750"/>
          </a:xfrm>
          <a:prstGeom prst="rect">
            <a:avLst/>
          </a:prstGeom>
          <a:solidFill>
            <a:srgbClr val="EAF1F8"/>
          </a:solidFill>
          <a:ln w="28575">
            <a:solidFill>
              <a:srgbClr val="A8C0D6"/>
            </a:solidFill>
          </a:ln>
        </p:spPr>
      </p:sp>
      <p:sp>
        <p:nvSpPr>
          <p:cNvPr id="36" name="Rectangle 35"/>
          <p:cNvSpPr>
            <a:spLocks noGrp="1"/>
          </p:cNvSpPr>
          <p:nvPr/>
        </p:nvSpPr>
        <p:spPr>
          <a:xfrm>
            <a:off x="15652350" y="33804224"/>
            <a:ext cx="1309965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defRPr>
            </a:pPr>
            <a:r>
              <a:rPr sz="3825" b="1">
                <a:solidFill>
                  <a:srgbClr val="003876"/>
                </a:solidFill>
                <a:latin typeface="Nanum Gothic"/>
                <a:ea typeface="Nanum Gothic"/>
                <a:cs typeface="Nanum Gothic"/>
              </a:rPr>
              <a:t>08  사업·운영 모델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711CBD3-17B4-4EFE-B544-F82C490EF654}"/>
              </a:ext>
            </a:extLst>
          </p:cNvPr>
          <p:cNvSpPr>
            <a:spLocks noGrp="1"/>
          </p:cNvSpPr>
          <p:nvPr/>
        </p:nvSpPr>
        <p:spPr>
          <a:xfrm>
            <a:off x="15699975" y="34937700"/>
            <a:ext cx="13004400" cy="4552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[운영 주체와 협력자]</a:t>
            </a:r>
          </a:p>
          <a:p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[사업형: 고객·수익·비용 구조]</a:t>
            </a:r>
          </a:p>
          <a:p>
            <a:endParaRPr sz="2925" b="0">
              <a:solidFill>
                <a:srgbClr val="6A7C8D"/>
              </a:solidFill>
              <a:latin typeface="Nanum Gothic"/>
              <a:ea typeface="Nanum Gothic"/>
              <a:cs typeface="Nanum Gothic"/>
            </a:endParaRPr>
          </a:p>
          <a:p>
            <a:pPr>
              <a:def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925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[공공·사회형: 운영·확산 방식]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38CC5DC-285E-404E-84E7-2FE5DBE1663D}"/>
              </a:ext>
            </a:extLst>
          </p:cNvPr>
          <p:cNvSpPr>
            <a:spLocks noGrp="1"/>
          </p:cNvSpPr>
          <p:nvPr/>
        </p:nvSpPr>
        <p:spPr>
          <a:xfrm>
            <a:off x="1238250" y="40290750"/>
            <a:ext cx="27622500" cy="619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5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defRPr>
            </a:pPr>
            <a:r>
              <a:rPr sz="2550" b="0">
                <a:solidFill>
                  <a:srgbClr val="6A7C8D"/>
                </a:solidFill>
                <a:latin typeface="Nanum Gothic"/>
                <a:ea typeface="Nanum Gothic"/>
                <a:cs typeface="Nanum Gothic"/>
              </a:rPr>
              <a:t>출처·참고자료 [사용한 자료의 출처를 기재하세요]</a:t>
            </a:r>
          </a:p>
        </p:txBody>
      </p:sp>
    </p:spTree>
    <p:extLst>
      <p:ext uri="{BB962C8B-B14F-4D97-AF65-F5344CB8AC3E}">
        <p14:creationId xmlns:p14="http://schemas.microsoft.com/office/powerpoint/2010/main" val="1571543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344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Nanum Gothic</vt:lpstr>
      <vt:lpstr>Aptos</vt:lpstr>
      <vt:lpstr>ChatGPT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Ahn</cp:lastModifiedBy>
  <cp:revision>3</cp:revision>
  <dcterms:modified xsi:type="dcterms:W3CDTF">2026-10-07T09:52:01Z</dcterms:modified>
  <cp:version/>
</cp:coreProperties>
</file>