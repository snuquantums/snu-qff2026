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85051" autoAdjust="0"/>
  </p:normalViewPr>
  <p:slideViewPr>
    <p:cSldViewPr snapToGrid="0">
      <p:cViewPr varScale="1">
        <p:scale>
          <a:sx n="73" d="100"/>
          <a:sy n="73" d="100"/>
        </p:scale>
        <p:origin x="895" y="45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상정한 미래의 시점·상황과 중요한 기술·사회 변화를 설명하세요.</a:t>
            </a:r>
          </a:p>
          <a:p>
            <a:pPr lvl="0">
              <a:defRPr/>
            </a:pPr>
            <a:r>
              <a:rPr lang="ko-KR" altLang="en-US"/>
              <a:t>과학적 사실과 팀의 전망</a:t>
            </a:r>
            <a:r>
              <a:rPr lang="en-US" altLang="ko-KR"/>
              <a:t>/</a:t>
            </a:r>
            <a:r>
              <a:rPr lang="ko-KR" altLang="en-US"/>
              <a:t>예측을 구분해 서술하세요</a:t>
            </a:r>
            <a:r>
              <a:rPr lang="en-US" altLang="ko-KR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1963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양자 기술에 대한 간략한 설명을 포함하여 제안한 사업·서비스에서 이용한 양자 기술과 그 역할을 기술하세요</a:t>
            </a:r>
            <a:r>
              <a:rPr lang="en-US" altLang="ko-KR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제안의 핵심을 한 문장으로 요약하고, 서비스 구조도·화면·그림 등으로 보여주세요.</a:t>
            </a:r>
          </a:p>
          <a:p>
            <a:pPr lvl="0">
              <a:defRPr/>
            </a:pPr>
            <a:r>
              <a:rPr lang="en-US" altLang="ko-KR"/>
              <a:t>Qiskit</a:t>
            </a:r>
            <a:r>
              <a:rPr lang="ko-KR" altLang="en-US"/>
              <a:t>을 통한 구현 결과를 표현해주세요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사용자의 이용 시작, 핵심 기능 사용, 결과 활용을 순서대로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필요한 데이터·기술·제도와 불확실한 점을 적으세요.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550F-29FC-E915-95EA-D74FADDF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9B538-2D5C-D7B9-A594-E129A6CAD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3F91F-6BCA-AD7F-96E7-B52BFC5CDAA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DAC6-07A2-0515-4477-5924F8DD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DACC3-088F-097A-CF97-E11C7BBD8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6F86-1EB1-7912-DC7F-60C841B470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BFD9-2AAF-FCC8-73BD-2D95E7C55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D2EFB-6752-5533-ABFB-83D81284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815BA-100C-F36B-53F0-5444DD3A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7D5-434D-753B-6736-E4733280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D5510-C144-7337-CD27-DBB520269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081B2-0226-1998-1FF1-582FA73F463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6171-4FCE-8B94-F35E-B2BD2729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19D74-D519-C1A5-5F58-081ECE740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71A4-5C88-0376-2634-69DEE34647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F3C0-4081-4070-BAC5-32CFCEC5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425CC-5FF4-D1E3-93E6-031366047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0E60E-BB37-3070-C353-7C4EC69A25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1685-6310-8824-7E4C-EC9332EB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E11C3-64DB-42F3-31D6-B7DECB988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BD052-56A3-C5D0-6757-2BC335FCE09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3C73-5447-384E-C8DE-F788A7BF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7722D-11C2-7D9B-F8DF-5A1956337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A5A64-CF03-58E0-3610-1972C53BC25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D0B7-3986-7DFD-612D-3A39512E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91E74-CF93-4F69-20F9-A98982B2A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B7A5E-EAB8-FC8C-BE22-7FD6C219ACF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A764-9F67-AF07-4FD0-C48645C7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5B09A-FD7F-3370-B4C8-8B02388BD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E9D72-7220-882B-8BE7-E7C372D07CF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4B97-8619-E5BA-40DA-DDA4E541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2B24-D674-D2FD-C5A8-4219BB114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02387-C562-5F31-A60C-1374DEBCBA8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>
            <a:extLst>
              <a:ext uri="{FF2B5EF4-FFF2-40B4-BE49-F238E27FC236}">
                <a16:creationId xmlns:a16="http://schemas.microsoft.com/office/drawing/2014/main" id="{8B32D2FB-258A-482B-8C79-F667DDAC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10">
            <a:extLst>
              <a:ext uri="{FF2B5EF4-FFF2-40B4-BE49-F238E27FC236}">
                <a16:creationId xmlns:a16="http://schemas.microsoft.com/office/drawing/2014/main" id="{F69842EE-5358-4B73-BCE3-A6CD9F42C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Google Shape;8;p10">
            <a:extLst>
              <a:ext uri="{FF2B5EF4-FFF2-40B4-BE49-F238E27FC236}">
                <a16:creationId xmlns:a16="http://schemas.microsoft.com/office/drawing/2014/main" id="{EC9AA28E-B249-4EF7-886B-6FBA6664DFB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>
            <a:extLst>
              <a:ext uri="{FF2B5EF4-FFF2-40B4-BE49-F238E27FC236}">
                <a16:creationId xmlns:a16="http://schemas.microsoft.com/office/drawing/2014/main" id="{74EE097A-E69E-4363-8E19-1BDAA0C594AF}"/>
              </a:ext>
            </a:extLst>
          </p:cNvPr>
          <p:cNvSpPr>
            <a:spLocks noGrp="1"/>
          </p:cNvSpPr>
          <p:nvPr/>
        </p:nvSpPr>
        <p:spPr>
          <a:xfrm>
            <a:off x="6217920" y="-1280160"/>
            <a:ext cx="4389000" cy="4389000"/>
          </a:xfrm>
          <a:prstGeom prst="ellipse">
            <a:avLst/>
          </a:prstGeom>
          <a:solidFill>
            <a:srgbClr val="002B6E"/>
          </a:solidFill>
          <a:ln w="12700" cap="flat" cmpd="sng">
            <a:solidFill>
              <a:srgbClr val="002B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802B0DF-DC3D-4913-90C9-C6DE946F393A}"/>
              </a:ext>
            </a:extLst>
          </p:cNvPr>
          <p:cNvSpPr>
            <a:spLocks noGrp="1"/>
          </p:cNvSpPr>
          <p:nvPr/>
        </p:nvSpPr>
        <p:spPr>
          <a:xfrm>
            <a:off x="7498080" y="182880"/>
            <a:ext cx="2377500" cy="2377500"/>
          </a:xfrm>
          <a:prstGeom prst="ellipse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71A6CB78-DD9B-46A9-B197-5FF02C4FF109}"/>
              </a:ext>
            </a:extLst>
          </p:cNvPr>
          <p:cNvSpPr>
            <a:spLocks noGrp="1"/>
          </p:cNvSpPr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02260"/>
          </a:solidFill>
          <a:ln w="12700" cap="flat" cmpd="sng">
            <a:solidFill>
              <a:srgbClr val="0022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9BF3646-8EAB-4C18-AFC3-B415335063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1A5499"/>
          </a:solidFill>
          <a:ln w="12700" cap="flat" cmpd="sng">
            <a:solidFill>
              <a:srgbClr val="1A54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6A4EB54-ED86-4E14-AF0E-EE4F89453D27}"/>
              </a:ext>
            </a:extLst>
          </p:cNvPr>
          <p:cNvSpPr>
            <a:spLocks noGrp="1"/>
          </p:cNvSpPr>
          <p:nvPr/>
        </p:nvSpPr>
        <p:spPr>
          <a:xfrm>
            <a:off x="502920" y="2487168"/>
            <a:ext cx="3657600" cy="36600"/>
          </a:xfrm>
          <a:prstGeom prst="rect">
            <a:avLst/>
          </a:prstGeom>
          <a:solidFill>
            <a:srgbClr val="3A7BD5"/>
          </a:solidFill>
          <a:ln w="12700" cap="flat" cmpd="sng">
            <a:solidFill>
              <a:srgbClr val="3A7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ABBA928-40A9-4520-90A5-8C05CF2A0E21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78105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6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아이디어명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2EFF0F5-A6BF-46A5-9BB2-92646D10163C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77628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A8C8F0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A8C8F0"/>
                </a:solidFill>
                <a:latin typeface="Nanum Gothic"/>
                <a:ea typeface="Nanum Gothic"/>
                <a:cs typeface="Nanum Gothic"/>
              </a:rPr>
              <a:t>서비스나 경험을 소개하는 한 문장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C916641-9EB0-4F01-8F9A-556F1ED0F90A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팀명  /  팀원 이름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DE9125B-E60E-4837-AA19-C7BAFF588DD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781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A8C8F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A8C8F0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</p:spTree>
    <p:extLst>
      <p:ext uri="{BB962C8B-B14F-4D97-AF65-F5344CB8AC3E}">
        <p14:creationId xmlns:p14="http://schemas.microsoft.com/office/powerpoint/2010/main" val="18153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06D64B35-DF0F-4C74-83B8-143DB7D64850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000E6009-434C-4176-A088-108462AD0797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FD72485-2861-4C48-93BF-62B8CA58086E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41EC9AE-CBA4-4BDD-AC1A-B1E917C39140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우리가 상상한 미래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CCA016B-C5D0-41CA-B2DE-2D9DEC338DC5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34BBD05-8FB4-4A1B-85AF-51238C24D7E2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2 / 8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485C0F0-3A93-45B5-9DC5-7CCA5A6B0CA9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266700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C80C2E2-48D2-4B8E-BE40-AA5D30C6B7EB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미래의 시점과 상황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472E4E5-28FB-49F2-B0A0-9114597084C5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228600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언제, 어디를 상상하나요?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[팀의 가정을 입력하세요]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C723B82-E696-4431-82E0-6959C584E28C}"/>
              </a:ext>
            </a:extLst>
          </p:cNvPr>
          <p:cNvSpPr>
            <a:spLocks noGrp="1"/>
          </p:cNvSpPr>
          <p:nvPr/>
        </p:nvSpPr>
        <p:spPr>
          <a:xfrm>
            <a:off x="3238500" y="1381125"/>
            <a:ext cx="266700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F257B14-6764-4912-934D-3C1A6D0BACDD}"/>
              </a:ext>
            </a:extLst>
          </p:cNvPr>
          <p:cNvSpPr>
            <a:spLocks noGrp="1"/>
          </p:cNvSpPr>
          <p:nvPr/>
        </p:nvSpPr>
        <p:spPr>
          <a:xfrm>
            <a:off x="3429000" y="154305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기술과 사회의 변화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B8CC138-7113-47A7-ADDD-2E33D147BA06}"/>
              </a:ext>
            </a:extLst>
          </p:cNvPr>
          <p:cNvSpPr>
            <a:spLocks noGrp="1"/>
          </p:cNvSpPr>
          <p:nvPr/>
        </p:nvSpPr>
        <p:spPr>
          <a:xfrm>
            <a:off x="3429000" y="1990725"/>
            <a:ext cx="228600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어떤 변화가 일어났나요?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[중요한 변화를 입력하세요]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97E8FDF-5036-40F7-9FEE-ED0DADD26F3E}"/>
              </a:ext>
            </a:extLst>
          </p:cNvPr>
          <p:cNvSpPr>
            <a:spLocks noGrp="1"/>
          </p:cNvSpPr>
          <p:nvPr/>
        </p:nvSpPr>
        <p:spPr>
          <a:xfrm>
            <a:off x="6096000" y="1381125"/>
            <a:ext cx="266700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6286500" y="154305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사용자의 일상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893826E-A320-4082-9697-972034F872D1}"/>
              </a:ext>
            </a:extLst>
          </p:cNvPr>
          <p:cNvSpPr>
            <a:spLocks noGrp="1"/>
          </p:cNvSpPr>
          <p:nvPr/>
        </p:nvSpPr>
        <p:spPr>
          <a:xfrm>
            <a:off x="6286500" y="1990725"/>
            <a:ext cx="228600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누구의 삶이 달라지나요?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[미래의 장면을 입력하세요]</a:t>
            </a:r>
          </a:p>
        </p:txBody>
      </p:sp>
    </p:spTree>
    <p:extLst>
      <p:ext uri="{BB962C8B-B14F-4D97-AF65-F5344CB8AC3E}">
        <p14:creationId xmlns:p14="http://schemas.microsoft.com/office/powerpoint/2010/main" val="1609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>
            <a:extLst>
              <a:ext uri="{FF2B5EF4-FFF2-40B4-BE49-F238E27FC236}">
                <a16:creationId xmlns:a16="http://schemas.microsoft.com/office/drawing/2014/main" id="{6B71D843-24B5-4A15-9D22-712D463AC4A9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CEC9F2C5-577F-4B8D-B80E-E9B5510CA1BC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DF2C942-496F-4A53-9CEB-5699C1725A26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B622AB1-7947-4FDA-A5CF-C52DCDC6B010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해결하고 싶은 문제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E64D8B6-ACC8-4FB0-9D7C-6801C3E703C6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AFBB163-404E-4970-9401-CFCF4EF7E813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3 / 8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07DBFB5-2E76-4AFC-87CE-73D455DE2B3E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CE4C72C-DB16-4C45-B280-F85E335D2C8F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문제를 겪는 사람과 상황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DDDB9D2-0C30-460B-B334-315915CF4D2E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누가 어떤 불편을 겪나요?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[문제와 그 중요성을 입력하세요]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3F42262-B861-47D2-BB40-F81C99E5FF5D}"/>
              </a:ext>
            </a:extLst>
          </p:cNvPr>
          <p:cNvSpPr>
            <a:spLocks noGrp="1"/>
          </p:cNvSpPr>
          <p:nvPr/>
        </p:nvSpPr>
        <p:spPr>
          <a:xfrm>
            <a:off x="466725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273EC0B-5752-4FF8-AE5B-899F14FBF2C9}"/>
              </a:ext>
            </a:extLst>
          </p:cNvPr>
          <p:cNvSpPr>
            <a:spLocks noGrp="1"/>
          </p:cNvSpPr>
          <p:nvPr/>
        </p:nvSpPr>
        <p:spPr>
          <a:xfrm>
            <a:off x="485775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현재의 해결 방식과 한계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75C21AD-3FD3-4B06-A39B-B4198C7E868C}"/>
              </a:ext>
            </a:extLst>
          </p:cNvPr>
          <p:cNvSpPr>
            <a:spLocks noGrp="1"/>
          </p:cNvSpPr>
          <p:nvPr/>
        </p:nvSpPr>
        <p:spPr>
          <a:xfrm>
            <a:off x="485775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지금은 어떻게 해결하나요?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[남아 있는 어려움을 입력하세요]</a:t>
            </a:r>
          </a:p>
        </p:txBody>
      </p:sp>
    </p:spTree>
    <p:extLst>
      <p:ext uri="{BB962C8B-B14F-4D97-AF65-F5344CB8AC3E}">
        <p14:creationId xmlns:p14="http://schemas.microsoft.com/office/powerpoint/2010/main" val="104876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>
            <a:extLst>
              <a:ext uri="{FF2B5EF4-FFF2-40B4-BE49-F238E27FC236}">
                <a16:creationId xmlns:a16="http://schemas.microsoft.com/office/drawing/2014/main" id="{1C20F3BC-D189-4480-BE53-6142B0C94A64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6">
            <a:extLst>
              <a:ext uri="{FF2B5EF4-FFF2-40B4-BE49-F238E27FC236}">
                <a16:creationId xmlns:a16="http://schemas.microsoft.com/office/drawing/2014/main" id="{0A62B934-A7EE-48F0-B814-9D433FF4171B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A28D7FC-7B74-41E4-8C16-BBC17FF5B20D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B482A6E-126A-4F0A-8D4D-95072C280754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제안하는 서비스·경험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FDE5179-9B98-46C8-BCD9-5E7F540ADAA4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899CFC3-A364-4F62-AC8A-BD19C374EF4F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4 / 8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1D4C94B-679C-402F-8F44-E3725B2B4867}"/>
              </a:ext>
            </a:extLst>
          </p:cNvPr>
          <p:cNvSpPr>
            <a:spLocks noGrp="1"/>
          </p:cNvSpPr>
          <p:nvPr/>
        </p:nvSpPr>
        <p:spPr>
          <a:xfrm>
            <a:off x="409575" y="1323975"/>
            <a:ext cx="83343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[누구에게 어떤 도움을 주는 서비스인지 한 문장으로 입력하세요]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910B2FA-8858-4878-BF32-4E182BA8B268}"/>
              </a:ext>
            </a:extLst>
          </p:cNvPr>
          <p:cNvSpPr>
            <a:spLocks noGrp="1"/>
          </p:cNvSpPr>
          <p:nvPr/>
        </p:nvSpPr>
        <p:spPr>
          <a:xfrm>
            <a:off x="381000" y="1933575"/>
            <a:ext cx="5286375" cy="2667000"/>
          </a:xfrm>
          <a:prstGeom prst="rect">
            <a:avLst/>
          </a:prstGeom>
          <a:solidFill>
            <a:srgbClr val="FAFAFA"/>
          </a:solidFill>
          <a:ln w="9525">
            <a:solidFill>
              <a:srgbClr val="A8C0D6"/>
            </a:solidFill>
          </a:ln>
        </p:spPr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A79512A-8006-4A24-AA2B-B6E5460B416A}"/>
              </a:ext>
            </a:extLst>
          </p:cNvPr>
          <p:cNvSpPr>
            <a:spLocks noGrp="1"/>
          </p:cNvSpPr>
          <p:nvPr/>
        </p:nvSpPr>
        <p:spPr>
          <a:xfrm>
            <a:off x="714375" y="3019425"/>
            <a:ext cx="4619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서비스 구조도 또는 화면 예시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1982B11-5407-4DB6-90EA-6291CBAA9E74}"/>
              </a:ext>
            </a:extLst>
          </p:cNvPr>
          <p:cNvSpPr>
            <a:spLocks noGrp="1"/>
          </p:cNvSpPr>
          <p:nvPr/>
        </p:nvSpPr>
        <p:spPr>
          <a:xfrm>
            <a:off x="5857875" y="1933575"/>
            <a:ext cx="2905125" cy="266700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81E7891-1A58-4914-B072-70BFE4220218}"/>
              </a:ext>
            </a:extLst>
          </p:cNvPr>
          <p:cNvSpPr>
            <a:spLocks noGrp="1"/>
          </p:cNvSpPr>
          <p:nvPr/>
        </p:nvSpPr>
        <p:spPr>
          <a:xfrm>
            <a:off x="6048375" y="2095500"/>
            <a:ext cx="2524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핵심 기능과 혜택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28BFE5F-AE56-4179-9D91-454DE06ED9D4}"/>
              </a:ext>
            </a:extLst>
          </p:cNvPr>
          <p:cNvSpPr>
            <a:spLocks noGrp="1"/>
          </p:cNvSpPr>
          <p:nvPr/>
        </p:nvSpPr>
        <p:spPr>
          <a:xfrm>
            <a:off x="6048375" y="2543175"/>
            <a:ext cx="2524125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사용자가 무엇을 할 수 있나요?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[기능과 도움을 입력하세요]</a:t>
            </a:r>
          </a:p>
        </p:txBody>
      </p:sp>
    </p:spTree>
    <p:extLst>
      <p:ext uri="{BB962C8B-B14F-4D97-AF65-F5344CB8AC3E}">
        <p14:creationId xmlns:p14="http://schemas.microsoft.com/office/powerpoint/2010/main" val="143829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B4D573E2-E8F1-4D0F-87C4-674D630704D1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7185E0F2-8793-4F7E-9E2A-28CA4E880166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C134BCA-70BD-438A-8A98-8BE445557084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39" name="Rectangle 138"/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lang="ko-KR" altLang="en-US"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양자 기술의 역할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42FD093-86C8-491C-8113-42002424B9DD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ACAC83D-F15F-4B30-BE46-5C2449FFEF36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5 / 8</a:t>
            </a:r>
          </a:p>
        </p:txBody>
      </p:sp>
      <p:sp>
        <p:nvSpPr>
          <p:cNvPr id="142" name="Rectangle 141"/>
          <p:cNvSpPr>
            <a:spLocks noGrp="1"/>
          </p:cNvSpPr>
          <p:nvPr/>
        </p:nvSpPr>
        <p:spPr>
          <a:xfrm>
            <a:off x="381000" y="1381125"/>
            <a:ext cx="2571750" cy="3295649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571500" y="15430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lang="ko-KR" altLang="en-US"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이용한 양자 기술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363452D-8E7E-4D26-8E7E-F3EE3510CC1D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2190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계산에 무엇이 필요한가요?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[데이터와 조건]</a:t>
            </a:r>
          </a:p>
        </p:txBody>
      </p:sp>
      <p:sp>
        <p:nvSpPr>
          <p:cNvPr id="145" name="Rectangle 144"/>
          <p:cNvSpPr>
            <a:spLocks noGrp="1"/>
          </p:cNvSpPr>
          <p:nvPr/>
        </p:nvSpPr>
        <p:spPr>
          <a:xfrm>
            <a:off x="3143250" y="1381125"/>
            <a:ext cx="2857500" cy="3295649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3333750" y="154305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lang="ko-KR" altLang="en-US"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양자 기술의 역할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F99377D-E41F-448F-9EA1-3F2EEDE4D1A8}"/>
              </a:ext>
            </a:extLst>
          </p:cNvPr>
          <p:cNvSpPr>
            <a:spLocks noGrp="1"/>
          </p:cNvSpPr>
          <p:nvPr/>
        </p:nvSpPr>
        <p:spPr>
          <a:xfrm>
            <a:off x="3333750" y="1990725"/>
            <a:ext cx="247650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어떤 계산을 맡기나요?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[대상과 원하는 결과]</a:t>
            </a:r>
          </a:p>
        </p:txBody>
      </p:sp>
      <p:sp>
        <p:nvSpPr>
          <p:cNvPr id="148" name="Rectangle 147"/>
          <p:cNvSpPr>
            <a:spLocks noGrp="1"/>
          </p:cNvSpPr>
          <p:nvPr/>
        </p:nvSpPr>
        <p:spPr>
          <a:xfrm>
            <a:off x="6191250" y="1381125"/>
            <a:ext cx="2571750" cy="3295649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6381750" y="15430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lang="ko-KR" altLang="en-US"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전망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8107995-65A4-4E74-BBC2-4ADACC15C3BE}"/>
              </a:ext>
            </a:extLst>
          </p:cNvPr>
          <p:cNvSpPr>
            <a:spLocks noGrp="1"/>
          </p:cNvSpPr>
          <p:nvPr/>
        </p:nvSpPr>
        <p:spPr>
          <a:xfrm>
            <a:off x="6381750" y="1990725"/>
            <a:ext cx="2190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결과를 어떻게 사용하나요?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[사용자에게 주는 변화]</a:t>
            </a:r>
          </a:p>
        </p:txBody>
      </p:sp>
    </p:spTree>
    <p:extLst>
      <p:ext uri="{BB962C8B-B14F-4D97-AF65-F5344CB8AC3E}">
        <p14:creationId xmlns:p14="http://schemas.microsoft.com/office/powerpoint/2010/main" val="9441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E5D964FA-B342-40FA-B9C0-CDD4A54A2C1B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8">
            <a:extLst>
              <a:ext uri="{FF2B5EF4-FFF2-40B4-BE49-F238E27FC236}">
                <a16:creationId xmlns:a16="http://schemas.microsoft.com/office/drawing/2014/main" id="{A48E89A6-6817-4016-A640-C7EFDA84DA74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073193B-C1DC-4ED0-8F95-AC0EB30E0F98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EC973B0-9F06-406D-936A-2736CC02FC8B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사용 시나리오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0BEFAD6-7C10-4211-9A00-EE2CDDBC1CBA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5CB1E36-AA30-458F-BDAD-0E7AF2176474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6 / 8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0F424F9-8C4B-40F2-B43A-38A1CFEE312A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3476625" cy="3219450"/>
          </a:xfrm>
          <a:prstGeom prst="rect">
            <a:avLst/>
          </a:prstGeom>
          <a:solidFill>
            <a:srgbClr val="FAFAFA"/>
          </a:solidFill>
          <a:ln w="9525">
            <a:solidFill>
              <a:srgbClr val="A8C0D6"/>
            </a:solidFill>
          </a:ln>
        </p:spPr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249C37F-5CC3-4669-86E2-4EDA51F66904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서비스·경험 이미지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4CFEB8BD-2E28-49EB-B5F1-C927342C9FD5}"/>
              </a:ext>
            </a:extLst>
          </p:cNvPr>
          <p:cNvSpPr>
            <a:spLocks noGrp="1"/>
          </p:cNvSpPr>
          <p:nvPr/>
        </p:nvSpPr>
        <p:spPr>
          <a:xfrm>
            <a:off x="4143375" y="1381125"/>
            <a:ext cx="4619625" cy="10096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DB93A6FA-7582-41E0-A87F-C713E8EA1D58}"/>
              </a:ext>
            </a:extLst>
          </p:cNvPr>
          <p:cNvSpPr>
            <a:spLocks noGrp="1"/>
          </p:cNvSpPr>
          <p:nvPr/>
        </p:nvSpPr>
        <p:spPr>
          <a:xfrm>
            <a:off x="4314825" y="1495425"/>
            <a:ext cx="42481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01  서비스 이용 시작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F72C970-6F6B-466D-B68D-9CE22962799B}"/>
              </a:ext>
            </a:extLst>
          </p:cNvPr>
          <p:cNvSpPr>
            <a:spLocks noGrp="1"/>
          </p:cNvSpPr>
          <p:nvPr/>
        </p:nvSpPr>
        <p:spPr>
          <a:xfrm>
            <a:off x="4314825" y="1876425"/>
            <a:ext cx="42481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[누가, 어떤 상황에서 이용하나요?]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85F5032-0CB5-4B02-8C96-E59570D4520D}"/>
              </a:ext>
            </a:extLst>
          </p:cNvPr>
          <p:cNvSpPr>
            <a:spLocks noGrp="1"/>
          </p:cNvSpPr>
          <p:nvPr/>
        </p:nvSpPr>
        <p:spPr>
          <a:xfrm>
            <a:off x="4143375" y="2486025"/>
            <a:ext cx="4619625" cy="10096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4314825" y="2600325"/>
            <a:ext cx="42481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02  핵심 기능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EA4344D-DA72-492D-8ECE-E86AA3A795B0}"/>
              </a:ext>
            </a:extLst>
          </p:cNvPr>
          <p:cNvSpPr>
            <a:spLocks noGrp="1"/>
          </p:cNvSpPr>
          <p:nvPr/>
        </p:nvSpPr>
        <p:spPr>
          <a:xfrm>
            <a:off x="4314825" y="2981325"/>
            <a:ext cx="42481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[사용자의 행동과 서비스의 응답]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29C1838D-BAC9-4CC6-B728-8332F02068BC}"/>
              </a:ext>
            </a:extLst>
          </p:cNvPr>
          <p:cNvSpPr>
            <a:spLocks noGrp="1"/>
          </p:cNvSpPr>
          <p:nvPr/>
        </p:nvSpPr>
        <p:spPr>
          <a:xfrm>
            <a:off x="4143375" y="3590925"/>
            <a:ext cx="4619625" cy="10096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A3019FF-0E77-4C24-B59D-82EF1F7311C9}"/>
              </a:ext>
            </a:extLst>
          </p:cNvPr>
          <p:cNvSpPr>
            <a:spLocks noGrp="1"/>
          </p:cNvSpPr>
          <p:nvPr/>
        </p:nvSpPr>
        <p:spPr>
          <a:xfrm>
            <a:off x="4314825" y="3705225"/>
            <a:ext cx="42481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03  결과 활용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31B6C29-F8EF-4695-9AA5-6B5AD46CD588}"/>
              </a:ext>
            </a:extLst>
          </p:cNvPr>
          <p:cNvSpPr>
            <a:spLocks noGrp="1"/>
          </p:cNvSpPr>
          <p:nvPr/>
        </p:nvSpPr>
        <p:spPr>
          <a:xfrm>
            <a:off x="4314825" y="4086225"/>
            <a:ext cx="42481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[어떤 도움을 얻고 무엇을 하나요?]</a:t>
            </a:r>
          </a:p>
        </p:txBody>
      </p:sp>
    </p:spTree>
    <p:extLst>
      <p:ext uri="{BB962C8B-B14F-4D97-AF65-F5344CB8AC3E}">
        <p14:creationId xmlns:p14="http://schemas.microsoft.com/office/powerpoint/2010/main" val="160095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>
            <a:extLst>
              <a:ext uri="{FF2B5EF4-FFF2-40B4-BE49-F238E27FC236}">
                <a16:creationId xmlns:a16="http://schemas.microsoft.com/office/drawing/2014/main" id="{54642915-E9F3-490F-9BB5-7821417B7978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A003E756-AFC8-4140-AF7A-59E21D0930C7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BAB4C7D-51B1-4713-A3C6-538D390DDA35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06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9616698-337C-48DE-8101-95F4EF6F51F5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기대 효과와 운영 방식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9D377C7-2B0D-4628-B71F-2E55C97951D4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6E7AB6D-D797-414A-833C-532B28D67D40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7 / 8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04BBC19-91C6-4164-BACF-B0C6EF1C4E0A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DBFD7CD-DC2E-4A4B-981D-8998A99CCB26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기대 효과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22DBF2A-AB5F-4FAD-B4C7-5DD2F876CDE6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누가 어떤 혜택을 받나요?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[기존 방식과 비교한 변화]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[효과를 확인할 기준]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B521565-CEB1-48E0-90F7-B503CCEA64DE}"/>
              </a:ext>
            </a:extLst>
          </p:cNvPr>
          <p:cNvSpPr>
            <a:spLocks noGrp="1"/>
          </p:cNvSpPr>
          <p:nvPr/>
        </p:nvSpPr>
        <p:spPr>
          <a:xfrm>
            <a:off x="466725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07D93E2-F097-4B00-9200-9796CEC12E57}"/>
              </a:ext>
            </a:extLst>
          </p:cNvPr>
          <p:cNvSpPr>
            <a:spLocks noGrp="1"/>
          </p:cNvSpPr>
          <p:nvPr/>
        </p:nvSpPr>
        <p:spPr>
          <a:xfrm>
            <a:off x="485775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운영 주체와 지속 방식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86E53F2-DA62-469D-991B-12A5DF3C2BD6}"/>
              </a:ext>
            </a:extLst>
          </p:cNvPr>
          <p:cNvSpPr>
            <a:spLocks noGrp="1"/>
          </p:cNvSpPr>
          <p:nvPr/>
        </p:nvSpPr>
        <p:spPr>
          <a:xfrm>
            <a:off x="485775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누가 함께 운영하나요?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[주요 사용자·협력자]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[운영 방식 또는 수익 모델]</a:t>
            </a:r>
          </a:p>
        </p:txBody>
      </p:sp>
    </p:spTree>
    <p:extLst>
      <p:ext uri="{BB962C8B-B14F-4D97-AF65-F5344CB8AC3E}">
        <p14:creationId xmlns:p14="http://schemas.microsoft.com/office/powerpoint/2010/main" val="156358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>
            <a:extLst>
              <a:ext uri="{FF2B5EF4-FFF2-40B4-BE49-F238E27FC236}">
                <a16:creationId xmlns:a16="http://schemas.microsoft.com/office/drawing/2014/main" id="{4DBC26E0-0471-490F-89DE-38873CB8D073}"/>
              </a:ext>
            </a:extLst>
          </p:cNvPr>
          <p:cNvSpPr>
            <a:spLocks noGrp="1"/>
          </p:cNvSpPr>
          <p:nvPr/>
        </p:nvSpPr>
        <p:spPr>
          <a:xfrm>
            <a:off x="365760" y="256032"/>
            <a:ext cx="54900" cy="658500"/>
          </a:xfrm>
          <a:prstGeom prst="rect">
            <a:avLst/>
          </a:prstGeom>
          <a:solidFill>
            <a:srgbClr val="003876"/>
          </a:solidFill>
          <a:ln w="12700" cap="flat" cmpd="sng">
            <a:solidFill>
              <a:srgbClr val="003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9">
            <a:extLst>
              <a:ext uri="{FF2B5EF4-FFF2-40B4-BE49-F238E27FC236}">
                <a16:creationId xmlns:a16="http://schemas.microsoft.com/office/drawing/2014/main" id="{ADFEC431-523B-467B-A4C8-1890FF87E933}"/>
              </a:ext>
            </a:extLst>
          </p:cNvPr>
          <p:cNvSpPr>
            <a:spLocks noGrp="1"/>
          </p:cNvSpPr>
          <p:nvPr/>
        </p:nvSpPr>
        <p:spPr>
          <a:xfrm>
            <a:off x="365760" y="1171575"/>
            <a:ext cx="8412600" cy="18300"/>
          </a:xfrm>
          <a:prstGeom prst="rect">
            <a:avLst/>
          </a:prstGeom>
          <a:solidFill>
            <a:srgbClr val="A8C0D6"/>
          </a:solidFill>
          <a:ln w="12700" cap="flat" cmpd="sng">
            <a:solidFill>
              <a:srgbClr val="A8C0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D31105-1C47-4B78-A856-916E43FB1BB1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07</a:t>
            </a:r>
          </a:p>
        </p:txBody>
      </p:sp>
      <p:sp>
        <p:nvSpPr>
          <p:cNvPr id="211" name="Rectangle 210"/>
          <p:cNvSpPr>
            <a:spLocks noGrp="1"/>
          </p:cNvSpPr>
          <p:nvPr/>
        </p:nvSpPr>
        <p:spPr>
          <a:xfrm>
            <a:off x="590550" y="5715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실현 조건</a:t>
            </a:r>
            <a:r>
              <a:rPr lang="ko-KR" altLang="en-US" sz="22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과 한계점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75225F3-3FA9-4F23-B919-EDE5E7C4B0EB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5905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A436BCC-51C5-4267-9087-9DC9DFF4A753}"/>
              </a:ext>
            </a:extLst>
          </p:cNvPr>
          <p:cNvSpPr>
            <a:spLocks noGrp="1"/>
          </p:cNvSpPr>
          <p:nvPr/>
        </p:nvSpPr>
        <p:spPr>
          <a:xfrm>
            <a:off x="8334375" y="4857750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8 / 8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55877D5-D23F-4048-A2A0-70DF8F87A259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EF96C06-ED76-471D-BA48-FE185B024F84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실현에 필요한 조건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1585604-B45D-4FD8-9EFA-AECDC239BDC5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어떤 준비가 필요한가요?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[데이터·기술·제도 등]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[현재 확보한 것과 필요한 것]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A35D086D-DEFE-487C-B044-9D63CF5AAA45}"/>
              </a:ext>
            </a:extLst>
          </p:cNvPr>
          <p:cNvSpPr>
            <a:spLocks noGrp="1"/>
          </p:cNvSpPr>
          <p:nvPr/>
        </p:nvSpPr>
        <p:spPr>
          <a:xfrm>
            <a:off x="4667250" y="1381125"/>
            <a:ext cx="4095750" cy="3219450"/>
          </a:xfrm>
          <a:prstGeom prst="rect">
            <a:avLst/>
          </a:prstGeom>
          <a:solidFill>
            <a:srgbClr val="EAF1F8"/>
          </a:solidFill>
          <a:ln w="9525">
            <a:solidFill>
              <a:srgbClr val="A8C0D6"/>
            </a:solidFill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4857750" y="15430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lang="ko-KR" altLang="en-US" sz="15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한계점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5504F6A-671C-4C51-87D7-B2BFDB063806}"/>
              </a:ext>
            </a:extLst>
          </p:cNvPr>
          <p:cNvSpPr>
            <a:spLocks noGrp="1"/>
          </p:cNvSpPr>
          <p:nvPr/>
        </p:nvSpPr>
        <p:spPr>
          <a:xfrm>
            <a:off x="4857750" y="1990725"/>
            <a:ext cx="371475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어떤 점이 불확실한가요?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[팀의 가정 또는 전망]</a:t>
            </a:r>
          </a:p>
          <a:p>
            <a:endParaRPr sz="127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[다음에 확인할 질문과 방법]</a:t>
            </a:r>
          </a:p>
        </p:txBody>
      </p:sp>
    </p:spTree>
    <p:extLst>
      <p:ext uri="{BB962C8B-B14F-4D97-AF65-F5344CB8AC3E}">
        <p14:creationId xmlns:p14="http://schemas.microsoft.com/office/powerpoint/2010/main" val="63438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447</Words>
  <Application>Microsoft Office PowerPoint</Application>
  <PresentationFormat>On-screen Show (16:9)</PresentationFormat>
  <Paragraphs>108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Nanum Gothic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Ahn</cp:lastModifiedBy>
  <cp:revision>4</cp:revision>
  <dcterms:modified xsi:type="dcterms:W3CDTF">2026-10-07T09:52:11Z</dcterms:modified>
  <cp:version/>
</cp:coreProperties>
</file>